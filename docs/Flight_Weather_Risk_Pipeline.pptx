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1" r:id="rId11"/>
    <p:sldId id="265" r:id="rId12"/>
    <p:sldId id="267" r:id="rId13"/>
    <p:sldId id="266" r:id="rId14"/>
    <p:sldId id="268" r:id="rId15"/>
    <p:sldId id="26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9" d="100"/>
          <a:sy n="79" d="100"/>
        </p:scale>
        <p:origin x="5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-2286000"/>
            <a:ext cx="5943600" cy="5943600"/>
          </a:xfrm>
          <a:prstGeom prst="ellipse">
            <a:avLst/>
          </a:prstGeom>
          <a:solidFill>
            <a:srgbClr val="152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332720" y="0"/>
            <a:ext cx="5029200" cy="5029200"/>
          </a:xfrm>
          <a:prstGeom prst="ellipse">
            <a:avLst/>
          </a:prstGeom>
          <a:solidFill>
            <a:srgbClr val="1C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881360" y="1097280"/>
            <a:ext cx="1828800" cy="18288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064240" y="1280160"/>
            <a:ext cx="1463040" cy="1463040"/>
          </a:xfrm>
          <a:prstGeom prst="ellipse">
            <a:avLst/>
          </a:prstGeom>
          <a:solidFill>
            <a:srgbClr val="FDC8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051560"/>
            <a:ext cx="73152" cy="274320"/>
          </a:xfrm>
          <a:prstGeom prst="rect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005840"/>
            <a:ext cx="914400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1" i="0">
                <a:solidFill>
                  <a:srgbClr val="3BA9F5"/>
                </a:solidFill>
                <a:latin typeface="Calibri"/>
              </a:rPr>
              <a:t>NAYA COLLEGE  ·  CLOUD BIG DATA ENGINEERING  ·  FINAL PROJECT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554480"/>
            <a:ext cx="9601200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5600" b="1" i="0" dirty="0">
                <a:solidFill>
                  <a:srgbClr val="F1F5F9"/>
                </a:solidFill>
                <a:latin typeface="Calibri"/>
              </a:rPr>
              <a:t>Flight Cancellation</a:t>
            </a:r>
          </a:p>
          <a:p>
            <a:pPr algn="l"/>
            <a:r>
              <a:rPr sz="5600" b="1" i="0" dirty="0">
                <a:solidFill>
                  <a:srgbClr val="3BA9F5"/>
                </a:solidFill>
                <a:latin typeface="Calibri"/>
              </a:rPr>
              <a:t>Risk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03320"/>
            <a:ext cx="96012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0" i="0" dirty="0">
                <a:solidFill>
                  <a:srgbClr val="CBD5E1"/>
                </a:solidFill>
                <a:latin typeface="Calibri"/>
              </a:rPr>
              <a:t>A real-time data engineering system that predicts flight cancellation risk using live weather forecasts.</a:t>
            </a:r>
          </a:p>
          <a:p>
            <a:pPr algn="l"/>
            <a:r>
              <a:rPr sz="1800" b="0" i="0" dirty="0">
                <a:solidFill>
                  <a:srgbClr val="CBD5E1"/>
                </a:solidFill>
                <a:latin typeface="Calibri"/>
              </a:rPr>
              <a:t>Re-scored every 30 minutes across 5 major airports.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394960"/>
            <a:ext cx="1956815" cy="457200"/>
          </a:xfrm>
          <a:prstGeom prst="roundRect">
            <a:avLst>
              <a:gd name="adj" fmla="val 50000"/>
            </a:avLst>
          </a:prstGeom>
          <a:solidFill>
            <a:srgbClr val="223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41832" y="5568696"/>
            <a:ext cx="109728" cy="109728"/>
          </a:xfrm>
          <a:prstGeom prst="ellipse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24712" y="5394960"/>
            <a:ext cx="1591055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Apache Kafka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71215" y="53949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223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035808" y="5568696"/>
            <a:ext cx="109728" cy="10972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18687" y="5394960"/>
            <a:ext cx="13716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PostgreSQL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45736" y="5394960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223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910327" y="5568696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93207" y="5394960"/>
            <a:ext cx="82296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MinIO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71616" y="5394960"/>
            <a:ext cx="1408176" cy="457200"/>
          </a:xfrm>
          <a:prstGeom prst="roundRect">
            <a:avLst>
              <a:gd name="adj" fmla="val 50000"/>
            </a:avLst>
          </a:prstGeom>
          <a:solidFill>
            <a:srgbClr val="223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236207" y="5568696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19088" y="5394960"/>
            <a:ext cx="1042416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Airflow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16952" y="5394960"/>
            <a:ext cx="1627632" cy="457200"/>
          </a:xfrm>
          <a:prstGeom prst="roundRect">
            <a:avLst>
              <a:gd name="adj" fmla="val 50000"/>
            </a:avLst>
          </a:prstGeom>
          <a:solidFill>
            <a:srgbClr val="223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781544" y="5568696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64424" y="5394960"/>
            <a:ext cx="1261872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Streamlit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81744" y="5394960"/>
            <a:ext cx="1298448" cy="457200"/>
          </a:xfrm>
          <a:prstGeom prst="roundRect">
            <a:avLst>
              <a:gd name="adj" fmla="val 50000"/>
            </a:avLst>
          </a:prstGeom>
          <a:solidFill>
            <a:srgbClr val="223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546336" y="5568696"/>
            <a:ext cx="109728" cy="109728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29216" y="5394960"/>
            <a:ext cx="932688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Docker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 / 14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87E260-287F-DAF3-575F-2EEC5475E83B}"/>
              </a:ext>
            </a:extLst>
          </p:cNvPr>
          <p:cNvSpPr txBox="1"/>
          <p:nvPr/>
        </p:nvSpPr>
        <p:spPr>
          <a:xfrm>
            <a:off x="777240" y="4828203"/>
            <a:ext cx="5789423" cy="46166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lang="en-US" sz="2400" b="1" i="0" dirty="0">
                <a:solidFill>
                  <a:schemeClr val="accent6"/>
                </a:solidFill>
                <a:latin typeface="Calibri"/>
              </a:rPr>
              <a:t>Maya Babadganov, Michael Sidorov </a:t>
            </a:r>
            <a:endParaRPr sz="2400" b="1" i="0" dirty="0">
              <a:solidFill>
                <a:schemeClr val="accent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77240" y="704088"/>
            <a:ext cx="164592" cy="164592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640080"/>
            <a:ext cx="411480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05840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 dirty="0">
                <a:solidFill>
                  <a:srgbClr val="F1F5F9"/>
                </a:solidFill>
                <a:latin typeface="Calibri"/>
              </a:rPr>
              <a:t>Weather causes </a:t>
            </a:r>
            <a:r>
              <a:rPr sz="4400" b="1" i="0" dirty="0">
                <a:solidFill>
                  <a:srgbClr val="F5A623"/>
                </a:solidFill>
                <a:latin typeface="Calibri"/>
              </a:rPr>
              <a:t>billions</a:t>
            </a:r>
            <a:r>
              <a:rPr sz="4400" b="1" i="0" dirty="0">
                <a:solidFill>
                  <a:srgbClr val="F1F5F9"/>
                </a:solidFill>
                <a:latin typeface="Calibri"/>
              </a:rPr>
              <a:t> in flight disruptions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834640"/>
            <a:ext cx="10607040" cy="86868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2834640"/>
            <a:ext cx="73152" cy="86868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834640"/>
            <a:ext cx="2103120" cy="868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3600" b="1" i="0" dirty="0">
                <a:solidFill>
                  <a:srgbClr val="F5A623"/>
                </a:solidFill>
                <a:latin typeface="Calibri"/>
              </a:rPr>
              <a:t>45%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834640"/>
            <a:ext cx="7955279" cy="868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0" i="0" dirty="0">
                <a:solidFill>
                  <a:srgbClr val="CBD5E1"/>
                </a:solidFill>
                <a:latin typeface="Calibri"/>
              </a:rPr>
              <a:t>of all flight delays are directly caused by weather conditions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86868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3840480"/>
            <a:ext cx="73152" cy="868680"/>
          </a:xfrm>
          <a:prstGeom prst="rect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3951654"/>
            <a:ext cx="2103120" cy="64633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3600" b="1" i="0" dirty="0">
                <a:solidFill>
                  <a:srgbClr val="3BA9F5"/>
                </a:solidFill>
                <a:latin typeface="Calibri"/>
              </a:rPr>
              <a:t>$3</a:t>
            </a:r>
            <a:r>
              <a:rPr lang="en-US" sz="3600" b="1" i="0" dirty="0">
                <a:solidFill>
                  <a:srgbClr val="3BA9F5"/>
                </a:solidFill>
                <a:latin typeface="Calibri"/>
              </a:rPr>
              <a:t>0</a:t>
            </a:r>
            <a:r>
              <a:rPr sz="3600" b="1" i="0" dirty="0">
                <a:solidFill>
                  <a:srgbClr val="3BA9F5"/>
                </a:solidFill>
                <a:latin typeface="Calibri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840480"/>
            <a:ext cx="7955279" cy="868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0" i="0" dirty="0">
                <a:solidFill>
                  <a:srgbClr val="CBD5E1"/>
                </a:solidFill>
                <a:latin typeface="Calibri"/>
              </a:rPr>
              <a:t>annual economic impact of flight delays in the US alone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77240" y="4846320"/>
            <a:ext cx="73152" cy="86868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4846320"/>
            <a:ext cx="2103120" cy="868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3600" b="1" i="0">
                <a:solidFill>
                  <a:srgbClr val="EF4444"/>
                </a:solidFill>
                <a:latin typeface="Calibr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846320"/>
            <a:ext cx="7955279" cy="868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0" i="0" dirty="0">
                <a:solidFill>
                  <a:srgbClr val="CBD5E1"/>
                </a:solidFill>
                <a:latin typeface="Calibri"/>
              </a:rPr>
              <a:t>existing free tools that continuously re-score live risk every 30 minutes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897880"/>
            <a:ext cx="10607040" cy="640080"/>
          </a:xfrm>
          <a:prstGeom prst="roundRect">
            <a:avLst>
              <a:gd name="adj" fmla="val 10000"/>
            </a:avLst>
          </a:prstGeom>
          <a:solidFill>
            <a:srgbClr val="223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897880"/>
            <a:ext cx="103327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3BA9F5"/>
                </a:solidFill>
                <a:latin typeface="Calibri"/>
              </a:rPr>
              <a:t>Our take: </a:t>
            </a:r>
            <a:r>
              <a:rPr sz="1400" b="0" i="0">
                <a:solidFill>
                  <a:srgbClr val="CBD5E1"/>
                </a:solidFill>
                <a:latin typeface="Calibri"/>
              </a:rPr>
              <a:t>We continuously re-score every upcoming flight — pulling live weather for both departure and arrival airports, before delays are even announced.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77240" y="704088"/>
            <a:ext cx="164592" cy="164592"/>
          </a:xfrm>
          <a:prstGeom prst="ellipse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640080"/>
            <a:ext cx="411480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3BA9F5"/>
                </a:solidFill>
                <a:latin typeface="Calibr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51560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 i="0">
                <a:solidFill>
                  <a:srgbClr val="F1F5F9"/>
                </a:solidFill>
                <a:latin typeface="Calibri"/>
              </a:rPr>
              <a:t>A fully automated, local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515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0">
                <a:solidFill>
                  <a:srgbClr val="CBD5E1"/>
                </a:solidFill>
                <a:latin typeface="Calibri"/>
              </a:rPr>
              <a:t>One </a:t>
            </a:r>
            <a:r>
              <a:rPr sz="1600" b="1" i="0">
                <a:solidFill>
                  <a:srgbClr val="F5A623"/>
                </a:solidFill>
                <a:latin typeface="Consolas"/>
              </a:rPr>
              <a:t>docker-compose up</a:t>
            </a:r>
            <a:r>
              <a:rPr sz="1600" b="0" i="0">
                <a:solidFill>
                  <a:srgbClr val="CBD5E1"/>
                </a:solidFill>
                <a:latin typeface="Calibri"/>
              </a:rPr>
              <a:t>  —  9 services, 0 cloud costs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311" y="2834640"/>
            <a:ext cx="2633472" cy="315468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64311" y="2834640"/>
            <a:ext cx="73152" cy="3154680"/>
          </a:xfrm>
          <a:prstGeom prst="rect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569567" y="3063239"/>
            <a:ext cx="822960" cy="822960"/>
          </a:xfrm>
          <a:prstGeom prst="ellipse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69567" y="3063239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 i="0">
                <a:solidFill>
                  <a:srgbClr val="F1F5F9"/>
                </a:solidFill>
                <a:latin typeface="Calibri"/>
              </a:rPr>
              <a:t>STREAM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8631" y="4023360"/>
            <a:ext cx="2176272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1" i="0">
                <a:solidFill>
                  <a:srgbClr val="F1F5F9"/>
                </a:solidFill>
                <a:latin typeface="Calibri"/>
              </a:rPr>
              <a:t>Real-time Streaming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8631" y="4617720"/>
            <a:ext cx="2176272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Apache Kafka carries every flight and weather update — two dedicated topics with 3 partitions each.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7511" y="2834640"/>
            <a:ext cx="2633472" cy="315468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07511" y="2834640"/>
            <a:ext cx="73152" cy="315468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312767" y="3063239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12767" y="3063239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 i="0">
                <a:solidFill>
                  <a:srgbClr val="F1F5F9"/>
                </a:solidFill>
                <a:latin typeface="Calibri"/>
              </a:rPr>
              <a:t>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1831" y="4023360"/>
            <a:ext cx="2176272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1" i="0">
                <a:solidFill>
                  <a:srgbClr val="F1F5F9"/>
                </a:solidFill>
                <a:latin typeface="Calibri"/>
              </a:rPr>
              <a:t>Live Weather Scoring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1831" y="4617720"/>
            <a:ext cx="2176272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Open-Meteo queried once per unique airport — wind &amp; rain matched to the exact departure hour.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0711" y="2834640"/>
            <a:ext cx="2633472" cy="315468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50711" y="2834640"/>
            <a:ext cx="73152" cy="315468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055967" y="3063239"/>
            <a:ext cx="822960" cy="82296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5967" y="3063239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 i="0">
                <a:solidFill>
                  <a:srgbClr val="F1F5F9"/>
                </a:solidFill>
                <a:latin typeface="Calibri"/>
              </a:rPr>
              <a:t>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4023360"/>
            <a:ext cx="2176272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1" i="0">
                <a:solidFill>
                  <a:srgbClr val="F1F5F9"/>
                </a:solidFill>
                <a:latin typeface="Calibri"/>
              </a:rPr>
              <a:t>Dual 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4617720"/>
            <a:ext cx="2176272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PostgreSQL for the live risk view, MinIO for a Hive-partitioned historical archive — never delete.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93911" y="2834640"/>
            <a:ext cx="2633472" cy="315468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893911" y="2834640"/>
            <a:ext cx="73152" cy="315468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9799167" y="3063239"/>
            <a:ext cx="822960" cy="822960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799167" y="3063239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 i="0">
                <a:solidFill>
                  <a:srgbClr val="F1F5F9"/>
                </a:solidFill>
                <a:latin typeface="Calibri"/>
              </a:rPr>
              <a:t>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8231" y="4023360"/>
            <a:ext cx="2176272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1" i="0">
                <a:solidFill>
                  <a:srgbClr val="F1F5F9"/>
                </a:solidFill>
                <a:latin typeface="Calibri"/>
              </a:rPr>
              <a:t>Live Dashboard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68231" y="4617720"/>
            <a:ext cx="2176272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Streamlit auto-refreshes every 60 seconds — filterable table, risk counters, airport bar chart.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77240" y="704088"/>
            <a:ext cx="164592" cy="164592"/>
          </a:xfrm>
          <a:prstGeom prst="ellipse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640080"/>
            <a:ext cx="411480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3BA9F5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5156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 i="0" dirty="0">
                <a:solidFill>
                  <a:srgbClr val="F1F5F9"/>
                </a:solidFill>
                <a:latin typeface="Calibri"/>
              </a:rPr>
              <a:t>End-to-End Data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Every stage is independently runnable — swap any component without rewriting the rest.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3767" y="3017520"/>
            <a:ext cx="1828800" cy="109728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83767" y="3017520"/>
            <a:ext cx="73152" cy="109728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0927" y="3127248"/>
            <a:ext cx="1600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Calibri"/>
              </a:rPr>
              <a:t>APIS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0927" y="3456432"/>
            <a:ext cx="16002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AeroDataBox
Open-Meteo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58287" y="3429000"/>
            <a:ext cx="228599" cy="274320"/>
          </a:xfrm>
          <a:prstGeom prst="rightArrow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032607" y="3017520"/>
            <a:ext cx="1828800" cy="109728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032607" y="3017520"/>
            <a:ext cx="73152" cy="1097280"/>
          </a:xfrm>
          <a:prstGeom prst="rect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69767" y="3127248"/>
            <a:ext cx="1600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3BA9F5"/>
                </a:solidFill>
                <a:latin typeface="Calibri"/>
              </a:rPr>
              <a:t>KAFKA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9767" y="3456432"/>
            <a:ext cx="16002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raw-flights
weather-data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907127" y="3429000"/>
            <a:ext cx="228599" cy="274320"/>
          </a:xfrm>
          <a:prstGeom prst="rightArrow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181447" y="3017520"/>
            <a:ext cx="1828800" cy="109728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181447" y="3017520"/>
            <a:ext cx="73152" cy="109728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18607" y="3127248"/>
            <a:ext cx="1600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A78BFA"/>
                </a:solidFill>
                <a:latin typeface="Calibri"/>
              </a:rPr>
              <a:t>WORKERS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18607" y="3456432"/>
            <a:ext cx="16002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fetch · load
enrich · score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055967" y="3429000"/>
            <a:ext cx="228599" cy="274320"/>
          </a:xfrm>
          <a:prstGeom prst="rightArrow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330287" y="3017520"/>
            <a:ext cx="1828800" cy="109728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330287" y="3017520"/>
            <a:ext cx="73152" cy="109728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67447" y="3127248"/>
            <a:ext cx="1600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2DD4BF"/>
                </a:solidFill>
                <a:latin typeface="Calibri"/>
              </a:rPr>
              <a:t>STORAGE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67447" y="3456432"/>
            <a:ext cx="16002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PostgreSQL
MinIO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204807" y="3429000"/>
            <a:ext cx="228599" cy="274320"/>
          </a:xfrm>
          <a:prstGeom prst="rightArrow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479127" y="3017520"/>
            <a:ext cx="1828800" cy="109728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479127" y="3017520"/>
            <a:ext cx="73152" cy="109728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616287" y="3127248"/>
            <a:ext cx="1600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DASHBOARD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6287" y="3456432"/>
            <a:ext cx="16002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Streamlit
Power BI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43484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Calibri"/>
              </a:rPr>
              <a:t>ORCHESTRATION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800600"/>
            <a:ext cx="10607040" cy="118872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77240" y="4800600"/>
            <a:ext cx="73152" cy="11887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05840" y="4937760"/>
            <a:ext cx="48463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  <a:latin typeface="Calibri"/>
              </a:rPr>
              <a:t>Airflow — schedule_dag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5303520"/>
            <a:ext cx="484632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Daily 06:00 · fetches flight schedules for 5 airports → raw-flights → flights_schedule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4937760"/>
            <a:ext cx="52120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  <a:latin typeface="Calibri"/>
              </a:rPr>
              <a:t>Airflow — risk_dag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5303520"/>
            <a:ext cx="52120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Every 30 min · fetch weather → enrich → score → PostgreSQL + MinIO snapshot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6217920"/>
            <a:ext cx="10607040" cy="457200"/>
          </a:xfrm>
          <a:prstGeom prst="roundRect">
            <a:avLst>
              <a:gd name="adj" fmla="val 30000"/>
            </a:avLst>
          </a:prstGeom>
          <a:solidFill>
            <a:srgbClr val="223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77240" y="6217920"/>
            <a:ext cx="2121408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3BA9F5"/>
                </a:solidFill>
                <a:latin typeface="Calibri"/>
              </a:rPr>
              <a:t>9  </a:t>
            </a:r>
            <a:r>
              <a:rPr sz="1200" b="0" i="0">
                <a:solidFill>
                  <a:srgbClr val="CBD5E1"/>
                </a:solidFill>
                <a:latin typeface="Calibri"/>
              </a:rPr>
              <a:t>Docker services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98648" y="6217920"/>
            <a:ext cx="2121408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3BA9F5"/>
                </a:solidFill>
                <a:latin typeface="Calibri"/>
              </a:rPr>
              <a:t>5  </a:t>
            </a:r>
            <a:r>
              <a:rPr sz="1200" b="0" i="0">
                <a:solidFill>
                  <a:srgbClr val="CBD5E1"/>
                </a:solidFill>
                <a:latin typeface="Calibri"/>
              </a:rPr>
              <a:t>ETL scripts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0055" y="6217920"/>
            <a:ext cx="2121408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 dirty="0">
                <a:solidFill>
                  <a:srgbClr val="3BA9F5"/>
                </a:solidFill>
                <a:latin typeface="Calibri"/>
              </a:rPr>
              <a:t>2  </a:t>
            </a:r>
            <a:r>
              <a:rPr sz="1200" b="0" i="0" dirty="0">
                <a:solidFill>
                  <a:srgbClr val="CBD5E1"/>
                </a:solidFill>
                <a:latin typeface="Calibri"/>
              </a:rPr>
              <a:t>Airflow DAGs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41463" y="6217920"/>
            <a:ext cx="2121408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 dirty="0">
                <a:solidFill>
                  <a:srgbClr val="3BA9F5"/>
                </a:solidFill>
                <a:latin typeface="Calibri"/>
              </a:rPr>
              <a:t>5  </a:t>
            </a:r>
            <a:r>
              <a:rPr sz="1200" b="0" i="0" dirty="0">
                <a:solidFill>
                  <a:srgbClr val="CBD5E1"/>
                </a:solidFill>
                <a:latin typeface="Calibri"/>
              </a:rPr>
              <a:t>Airports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77240" y="704088"/>
            <a:ext cx="164592" cy="164592"/>
          </a:xfrm>
          <a:prstGeom prst="ellipse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640080"/>
            <a:ext cx="411480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3BA9F5"/>
                </a:solidFill>
                <a:latin typeface="Calibr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5156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 i="0">
                <a:solidFill>
                  <a:srgbClr val="F1F5F9"/>
                </a:solidFill>
                <a:latin typeface="Calibri"/>
              </a:rPr>
              <a:t>All free. All Docker.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515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Calibri"/>
              </a:rPr>
              <a:t>Change one line in </a:t>
            </a:r>
            <a:r>
              <a:rPr sz="1500" b="1" i="0">
                <a:solidFill>
                  <a:srgbClr val="F5A623"/>
                </a:solidFill>
                <a:latin typeface="Consolas"/>
              </a:rPr>
              <a:t>.env</a:t>
            </a:r>
            <a:r>
              <a:rPr sz="1500" b="0" i="0">
                <a:solidFill>
                  <a:srgbClr val="CBD5E1"/>
                </a:solidFill>
                <a:latin typeface="Calibri"/>
              </a:rPr>
              <a:t> to switch to AWS S3 or RDS — no code rewrites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311" y="2606040"/>
            <a:ext cx="2633472" cy="182880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64311" y="2606040"/>
            <a:ext cx="73152" cy="18288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8631" y="2834640"/>
            <a:ext cx="226771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Calibri"/>
              </a:rPr>
              <a:t>SCHEDULES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8631" y="3200400"/>
            <a:ext cx="2267712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dirty="0" err="1">
                <a:solidFill>
                  <a:srgbClr val="F1F5F9"/>
                </a:solidFill>
                <a:latin typeface="Calibri"/>
              </a:rPr>
              <a:t>AeroDataBox</a:t>
            </a:r>
            <a:endParaRPr sz="2000" b="1" i="0" dirty="0">
              <a:solidFill>
                <a:srgbClr val="F1F5F9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38631" y="3749039"/>
            <a:ext cx="226771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RapidAPI · ~300/500 calls/month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7511" y="2606040"/>
            <a:ext cx="2633472" cy="182880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07511" y="2606040"/>
            <a:ext cx="73152" cy="18288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81831" y="2834640"/>
            <a:ext cx="226771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2DD4BF"/>
                </a:solidFill>
                <a:latin typeface="Calibri"/>
              </a:rPr>
              <a:t>WEATHER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1831" y="3200400"/>
            <a:ext cx="2267712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dirty="0">
                <a:solidFill>
                  <a:srgbClr val="F1F5F9"/>
                </a:solidFill>
                <a:latin typeface="Calibri"/>
              </a:rPr>
              <a:t>Open-</a:t>
            </a:r>
            <a:r>
              <a:rPr sz="2000" b="1" i="0" dirty="0" err="1">
                <a:solidFill>
                  <a:srgbClr val="F1F5F9"/>
                </a:solidFill>
                <a:latin typeface="Calibri"/>
              </a:rPr>
              <a:t>Meteo</a:t>
            </a:r>
            <a:endParaRPr sz="2000" b="1" i="0" dirty="0">
              <a:solidFill>
                <a:srgbClr val="F1F5F9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81831" y="3749039"/>
            <a:ext cx="226771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Unlimited · no API key needed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0711" y="2606040"/>
            <a:ext cx="2633472" cy="182880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50711" y="2606040"/>
            <a:ext cx="73152" cy="1828800"/>
          </a:xfrm>
          <a:prstGeom prst="rect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25031" y="2834640"/>
            <a:ext cx="226771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3BA9F5"/>
                </a:solidFill>
                <a:latin typeface="Calibri"/>
              </a:rPr>
              <a:t>STREAMING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5031" y="3200400"/>
            <a:ext cx="2267712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>
                <a:solidFill>
                  <a:srgbClr val="F1F5F9"/>
                </a:solidFill>
                <a:latin typeface="Calibri"/>
              </a:rPr>
              <a:t>Apache Kafka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5031" y="3749039"/>
            <a:ext cx="2267712" cy="27699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 dirty="0">
                <a:solidFill>
                  <a:srgbClr val="CBD5E1"/>
                </a:solidFill>
                <a:latin typeface="Calibri"/>
              </a:rPr>
              <a:t>2 topics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93911" y="2606040"/>
            <a:ext cx="2633472" cy="182880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893911" y="2606040"/>
            <a:ext cx="73152" cy="18288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68231" y="2834640"/>
            <a:ext cx="226771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A78BFA"/>
                </a:solidFill>
                <a:latin typeface="Calibri"/>
              </a:rPr>
              <a:t>ORCHESTRATION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8231" y="3200400"/>
            <a:ext cx="2267712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>
                <a:solidFill>
                  <a:srgbClr val="F1F5F9"/>
                </a:solidFill>
                <a:latin typeface="Calibri"/>
              </a:rPr>
              <a:t>Airflow 2.8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8231" y="3749039"/>
            <a:ext cx="2267712" cy="27699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 dirty="0">
                <a:solidFill>
                  <a:srgbClr val="CBD5E1"/>
                </a:solidFill>
                <a:latin typeface="Calibri"/>
              </a:rPr>
              <a:t>2 DAGs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4311" y="4544568"/>
            <a:ext cx="2633472" cy="182880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64311" y="4544568"/>
            <a:ext cx="73152" cy="18288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38631" y="4773168"/>
            <a:ext cx="226771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WAREHOUSE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8631" y="5138928"/>
            <a:ext cx="2267712" cy="4001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dirty="0">
                <a:solidFill>
                  <a:srgbClr val="F1F5F9"/>
                </a:solidFill>
                <a:latin typeface="Calibri"/>
              </a:rPr>
              <a:t>PostgreSQL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8631" y="5687568"/>
            <a:ext cx="2267712" cy="27699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 dirty="0">
                <a:solidFill>
                  <a:srgbClr val="CBD5E1"/>
                </a:solidFill>
                <a:latin typeface="Calibri"/>
              </a:rPr>
              <a:t>Idempotent UPSERT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07511" y="4544568"/>
            <a:ext cx="2633472" cy="182880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407511" y="4544568"/>
            <a:ext cx="73152" cy="18288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81831" y="4773168"/>
            <a:ext cx="226771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Calibri"/>
              </a:rPr>
              <a:t>OBJECT STORE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81831" y="5138928"/>
            <a:ext cx="2267712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>
                <a:solidFill>
                  <a:srgbClr val="F1F5F9"/>
                </a:solidFill>
                <a:latin typeface="Calibri"/>
              </a:rPr>
              <a:t>MinIO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1831" y="5687568"/>
            <a:ext cx="226771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Local S3 · Hive partitioning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50711" y="4544568"/>
            <a:ext cx="2633472" cy="182880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150711" y="4544568"/>
            <a:ext cx="73152" cy="1828800"/>
          </a:xfrm>
          <a:prstGeom prst="rect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25031" y="4773168"/>
            <a:ext cx="226771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3BA9F5"/>
                </a:solidFill>
                <a:latin typeface="Calibri"/>
              </a:rPr>
              <a:t>DASHBOARD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25031" y="5138928"/>
            <a:ext cx="2267712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>
                <a:solidFill>
                  <a:srgbClr val="F1F5F9"/>
                </a:solidFill>
                <a:latin typeface="Calibri"/>
              </a:rPr>
              <a:t>Streamlit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5031" y="5687568"/>
            <a:ext cx="226771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Auto-refresh 60s · port 8501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893911" y="4544568"/>
            <a:ext cx="2633472" cy="182880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8893911" y="4544568"/>
            <a:ext cx="73152" cy="1828800"/>
          </a:xfrm>
          <a:prstGeom prst="rect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168231" y="4773168"/>
            <a:ext cx="226771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FDBA74"/>
                </a:solidFill>
                <a:latin typeface="Calibri"/>
              </a:rPr>
              <a:t>BI REPORT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68231" y="5138928"/>
            <a:ext cx="2267712" cy="4001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dirty="0">
                <a:solidFill>
                  <a:srgbClr val="F1F5F9"/>
                </a:solidFill>
                <a:latin typeface="Calibri"/>
              </a:rPr>
              <a:t>Power BI</a:t>
            </a:r>
            <a:r>
              <a:rPr lang="en-US" sz="2000" b="1" i="0" dirty="0">
                <a:solidFill>
                  <a:srgbClr val="F1F5F9"/>
                </a:solidFill>
                <a:latin typeface="Calibri"/>
              </a:rPr>
              <a:t> Desktop</a:t>
            </a:r>
            <a:endParaRPr sz="2000" b="1" i="0" dirty="0">
              <a:solidFill>
                <a:srgbClr val="F1F5F9"/>
              </a:solidFill>
              <a:latin typeface="Calibri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168231" y="5687568"/>
            <a:ext cx="226771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Connects to PostgreSQL · free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77240" y="704088"/>
            <a:ext cx="164592" cy="164592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640080"/>
            <a:ext cx="411480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2DD4BF"/>
                </a:solidFill>
                <a:latin typeface="Calibri"/>
              </a:rPr>
              <a:t>DAG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5156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 i="0" dirty="0" err="1">
                <a:solidFill>
                  <a:srgbClr val="F1F5F9"/>
                </a:solidFill>
                <a:latin typeface="Consolas"/>
              </a:rPr>
              <a:t>schedule_dag</a:t>
            </a:r>
            <a:r>
              <a:rPr sz="3600" b="1" i="0" dirty="0">
                <a:solidFill>
                  <a:srgbClr val="F1F5F9"/>
                </a:solidFill>
                <a:latin typeface="Consolas"/>
              </a:rPr>
              <a:t>  </a:t>
            </a:r>
            <a:r>
              <a:rPr sz="3600" b="1" i="0" dirty="0">
                <a:solidFill>
                  <a:srgbClr val="2DD4BF"/>
                </a:solidFill>
                <a:latin typeface="Calibri"/>
              </a:rPr>
              <a:t>—  Daily 06:00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5156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 dirty="0">
                <a:solidFill>
                  <a:srgbClr val="CBD5E1"/>
                </a:solidFill>
                <a:latin typeface="Calibri"/>
              </a:rPr>
              <a:t>Fetches upcoming flight schedules for 5 monitored airports and loads them into PostgreSQL.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867" y="2834640"/>
            <a:ext cx="2606040" cy="219456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0867" y="2834640"/>
            <a:ext cx="73152" cy="2194560"/>
          </a:xfrm>
          <a:prstGeom prst="rect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5187" y="3017520"/>
            <a:ext cx="22402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3BA9F5"/>
                </a:solidFill>
                <a:latin typeface="Calibri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3383280"/>
            <a:ext cx="2240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  <a:latin typeface="Consolas"/>
              </a:rPr>
              <a:t>fetch_schedule.py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886200"/>
            <a:ext cx="2240280" cy="83099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 dirty="0">
                <a:solidFill>
                  <a:srgbClr val="CBD5E1"/>
                </a:solidFill>
                <a:latin typeface="Calibri"/>
              </a:rPr>
              <a:t>Calls </a:t>
            </a:r>
            <a:r>
              <a:rPr sz="1200" b="0" i="0" dirty="0" err="1">
                <a:solidFill>
                  <a:srgbClr val="CBD5E1"/>
                </a:solidFill>
                <a:latin typeface="Calibri"/>
              </a:rPr>
              <a:t>AeroDataBox</a:t>
            </a:r>
            <a:r>
              <a:rPr sz="1200" b="0" i="0" dirty="0">
                <a:solidFill>
                  <a:srgbClr val="CBD5E1"/>
                </a:solidFill>
                <a:latin typeface="Calibri"/>
              </a:rPr>
              <a:t> via </a:t>
            </a:r>
            <a:r>
              <a:rPr sz="1200" b="0" i="0" dirty="0" err="1">
                <a:solidFill>
                  <a:srgbClr val="CBD5E1"/>
                </a:solidFill>
                <a:latin typeface="Calibri"/>
              </a:rPr>
              <a:t>RapidAPI</a:t>
            </a:r>
            <a:r>
              <a:rPr sz="1200" b="0" i="0" dirty="0">
                <a:solidFill>
                  <a:srgbClr val="CBD5E1"/>
                </a:solidFill>
                <a:latin typeface="Calibri"/>
              </a:rPr>
              <a:t> per ICAO airport.
Publishes JSON to Kafka</a:t>
            </a:r>
            <a:r>
              <a:rPr lang="he-IL" sz="1200" b="0" i="0" dirty="0">
                <a:solidFill>
                  <a:srgbClr val="CBD5E1"/>
                </a:solidFill>
                <a:latin typeface="Calibri"/>
              </a:rPr>
              <a:t>          </a:t>
            </a:r>
            <a:r>
              <a:rPr sz="1200" b="0" i="0" dirty="0">
                <a:solidFill>
                  <a:srgbClr val="CBD5E1"/>
                </a:solidFill>
                <a:latin typeface="Calibri"/>
              </a:rPr>
              <a:t>raw-flights.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56051" y="3794759"/>
            <a:ext cx="210312" cy="274320"/>
          </a:xfrm>
          <a:prstGeom prst="rightArrow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375507" y="2834640"/>
            <a:ext cx="2606040" cy="219456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75507" y="2834640"/>
            <a:ext cx="73152" cy="21945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49827" y="3017520"/>
            <a:ext cx="22402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Calibri"/>
              </a:rPr>
              <a:t>KAFKA TOPIC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9827" y="3383280"/>
            <a:ext cx="2240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  <a:latin typeface="Consolas"/>
              </a:rPr>
              <a:t>raw-flights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9827" y="3886200"/>
            <a:ext cx="2240280" cy="27699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 dirty="0">
                <a:solidFill>
                  <a:srgbClr val="CBD5E1"/>
                </a:solidFill>
                <a:latin typeface="Calibri"/>
              </a:rPr>
              <a:t>Key: </a:t>
            </a:r>
            <a:r>
              <a:rPr sz="1200" b="0" i="0" dirty="0" err="1">
                <a:solidFill>
                  <a:srgbClr val="CBD5E1"/>
                </a:solidFill>
                <a:latin typeface="Calibri"/>
              </a:rPr>
              <a:t>flight_iata</a:t>
            </a:r>
            <a:endParaRPr sz="1200" b="0" i="0" dirty="0">
              <a:solidFill>
                <a:srgbClr val="CBD5E1"/>
              </a:solidFill>
              <a:latin typeface="Calibri"/>
            </a:endParaRPr>
          </a:p>
        </p:txBody>
      </p:sp>
      <p:sp>
        <p:nvSpPr>
          <p:cNvPr id="18" name="Right Arrow 17"/>
          <p:cNvSpPr/>
          <p:nvPr/>
        </p:nvSpPr>
        <p:spPr>
          <a:xfrm>
            <a:off x="5990691" y="3794759"/>
            <a:ext cx="210312" cy="274320"/>
          </a:xfrm>
          <a:prstGeom prst="rightArrow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210147" y="2834640"/>
            <a:ext cx="2606040" cy="219456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0147" y="2834640"/>
            <a:ext cx="73152" cy="219456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84467" y="3017520"/>
            <a:ext cx="22402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A78BFA"/>
                </a:solidFill>
                <a:latin typeface="Calibri"/>
              </a:rPr>
              <a:t>STEP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4467" y="3383280"/>
            <a:ext cx="2240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  <a:latin typeface="Consolas"/>
              </a:rPr>
              <a:t>load_schedule_pg.py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4467" y="3886200"/>
            <a:ext cx="2240280" cy="46166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 dirty="0">
                <a:solidFill>
                  <a:srgbClr val="CBD5E1"/>
                </a:solidFill>
                <a:latin typeface="Calibri"/>
              </a:rPr>
              <a:t>Consumes Kafka, </a:t>
            </a:r>
            <a:r>
              <a:rPr sz="1200" b="0" i="0" dirty="0" err="1">
                <a:solidFill>
                  <a:srgbClr val="CBD5E1"/>
                </a:solidFill>
                <a:latin typeface="Calibri"/>
              </a:rPr>
              <a:t>upserts</a:t>
            </a:r>
            <a:r>
              <a:rPr sz="1200" b="0" i="0" dirty="0">
                <a:solidFill>
                  <a:srgbClr val="CBD5E1"/>
                </a:solidFill>
                <a:latin typeface="Calibri"/>
              </a:rPr>
              <a:t> into</a:t>
            </a:r>
            <a:r>
              <a:rPr lang="en-US" sz="1200" b="0" i="0" dirty="0">
                <a:solidFill>
                  <a:srgbClr val="CBD5E1"/>
                </a:solidFill>
                <a:latin typeface="Calibri"/>
              </a:rPr>
              <a:t> Postgres</a:t>
            </a:r>
            <a:r>
              <a:rPr sz="1200" b="0" i="0" dirty="0">
                <a:solidFill>
                  <a:srgbClr val="CBD5E1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CBD5E1"/>
                </a:solidFill>
                <a:latin typeface="Calibri"/>
              </a:rPr>
              <a:t>flights_schedule</a:t>
            </a:r>
            <a:r>
              <a:rPr lang="en-US" sz="1200" b="0" i="0" dirty="0">
                <a:solidFill>
                  <a:srgbClr val="CBD5E1"/>
                </a:solidFill>
                <a:latin typeface="Calibri"/>
              </a:rPr>
              <a:t> table</a:t>
            </a:r>
            <a:r>
              <a:rPr sz="1200" b="0" i="0" dirty="0">
                <a:solidFill>
                  <a:srgbClr val="CBD5E1"/>
                </a:solidFill>
                <a:latin typeface="Calibri"/>
              </a:rPr>
              <a:t>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25331" y="3794759"/>
            <a:ext cx="210312" cy="274320"/>
          </a:xfrm>
          <a:prstGeom prst="rightArrow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044787" y="2834640"/>
            <a:ext cx="2606040" cy="219456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44787" y="2834640"/>
            <a:ext cx="73152" cy="219456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19107" y="3017520"/>
            <a:ext cx="22402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2DD4BF"/>
                </a:solidFill>
                <a:latin typeface="Calibri"/>
              </a:rPr>
              <a:t>POSTGRESQL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9107" y="3383280"/>
            <a:ext cx="2240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  <a:latin typeface="Consolas"/>
              </a:rPr>
              <a:t>flights_schedule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9107" y="3886200"/>
            <a:ext cx="2240280" cy="1051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3-day rolling window
ON CONFLICT DO NOTHING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486400"/>
            <a:ext cx="3520440" cy="640080"/>
          </a:xfrm>
          <a:prstGeom prst="roundRect">
            <a:avLst>
              <a:gd name="adj" fmla="val 30000"/>
            </a:avLst>
          </a:prstGeom>
          <a:solidFill>
            <a:srgbClr val="223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77240" y="5486400"/>
            <a:ext cx="73152" cy="640080"/>
          </a:xfrm>
          <a:prstGeom prst="rect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05840" y="5486400"/>
            <a:ext cx="32004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Airports: </a:t>
            </a:r>
            <a:r>
              <a:rPr sz="1300" b="1" i="0">
                <a:solidFill>
                  <a:srgbClr val="F1F5F9"/>
                </a:solidFill>
                <a:latin typeface="Calibri"/>
              </a:rPr>
              <a:t>KJFK · EGLL · EDDF · OMDB · KATL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4840" y="5486400"/>
            <a:ext cx="3520440" cy="640080"/>
          </a:xfrm>
          <a:prstGeom prst="roundRect">
            <a:avLst>
              <a:gd name="adj" fmla="val 30000"/>
            </a:avLst>
          </a:prstGeom>
          <a:solidFill>
            <a:srgbClr val="223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434840" y="5486400"/>
            <a:ext cx="73152" cy="64008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663440" y="5486400"/>
            <a:ext cx="32004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Free tier: </a:t>
            </a:r>
            <a:r>
              <a:rPr sz="1300" b="1" i="0">
                <a:solidFill>
                  <a:srgbClr val="F1F5F9"/>
                </a:solidFill>
                <a:latin typeface="Calibri"/>
              </a:rPr>
              <a:t>~300 / 500 calls/month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2440" y="5486400"/>
            <a:ext cx="3520440" cy="640080"/>
          </a:xfrm>
          <a:prstGeom prst="roundRect">
            <a:avLst>
              <a:gd name="adj" fmla="val 30000"/>
            </a:avLst>
          </a:prstGeom>
          <a:solidFill>
            <a:srgbClr val="223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092440" y="5486400"/>
            <a:ext cx="73152" cy="64008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21040" y="5486400"/>
            <a:ext cx="32004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Rate-limit fix: </a:t>
            </a:r>
            <a:r>
              <a:rPr sz="1300" b="1" i="0">
                <a:solidFill>
                  <a:srgbClr val="F1F5F9"/>
                </a:solidFill>
                <a:latin typeface="Calibri"/>
              </a:rPr>
              <a:t>sleep(1) between airports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77240" y="704088"/>
            <a:ext cx="164592" cy="164592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640080"/>
            <a:ext cx="411480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Calibri"/>
              </a:rPr>
              <a:t>DAG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5156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 i="0" dirty="0" err="1">
                <a:solidFill>
                  <a:srgbClr val="F1F5F9"/>
                </a:solidFill>
                <a:latin typeface="Consolas"/>
              </a:rPr>
              <a:t>risk_dag</a:t>
            </a:r>
            <a:r>
              <a:rPr sz="3600" b="1" i="0" dirty="0">
                <a:solidFill>
                  <a:srgbClr val="F1F5F9"/>
                </a:solidFill>
                <a:latin typeface="Consolas"/>
              </a:rPr>
              <a:t>  </a:t>
            </a:r>
            <a:r>
              <a:rPr sz="3600" b="1" i="0" dirty="0">
                <a:solidFill>
                  <a:srgbClr val="F5A623"/>
                </a:solidFill>
                <a:latin typeface="Calibri"/>
              </a:rPr>
              <a:t>—  Every 30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5156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Fetches fresh weather, re-scores every flight, writes to PostgreSQL and MinIO.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7151" y="2834640"/>
            <a:ext cx="2103120" cy="219456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27151" y="2834640"/>
            <a:ext cx="73152" cy="2194560"/>
          </a:xfrm>
          <a:prstGeom prst="rect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5751" y="3017520"/>
            <a:ext cx="1783079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3BA9F5"/>
                </a:solidFill>
                <a:latin typeface="Calibri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5751" y="3383280"/>
            <a:ext cx="1783079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onsolas"/>
              </a:rPr>
              <a:t>fetch_weather.py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5751" y="3931920"/>
            <a:ext cx="1783079" cy="1051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 dirty="0">
                <a:solidFill>
                  <a:srgbClr val="CBD5E1"/>
                </a:solidFill>
                <a:latin typeface="Calibri"/>
              </a:rPr>
              <a:t>Open-</a:t>
            </a:r>
            <a:r>
              <a:rPr sz="1100" b="0" i="0" dirty="0" err="1">
                <a:solidFill>
                  <a:srgbClr val="CBD5E1"/>
                </a:solidFill>
                <a:latin typeface="Calibri"/>
              </a:rPr>
              <a:t>Meteo</a:t>
            </a:r>
            <a:r>
              <a:rPr sz="1100" b="0" i="0" dirty="0">
                <a:solidFill>
                  <a:srgbClr val="CBD5E1"/>
                </a:solidFill>
                <a:latin typeface="Calibri"/>
              </a:rPr>
              <a:t> called once per
unique airport (5-12 API calls).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634843" y="3813048"/>
            <a:ext cx="146304" cy="237744"/>
          </a:xfrm>
          <a:prstGeom prst="rightArrow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785719" y="2834640"/>
            <a:ext cx="2103120" cy="219456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85719" y="2834640"/>
            <a:ext cx="73152" cy="219456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14319" y="3017520"/>
            <a:ext cx="1783079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2DD4BF"/>
                </a:solidFill>
                <a:latin typeface="Calibri"/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4319" y="3383280"/>
            <a:ext cx="1783079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dirty="0">
                <a:solidFill>
                  <a:srgbClr val="F1F5F9"/>
                </a:solidFill>
                <a:latin typeface="Consolas"/>
              </a:rPr>
              <a:t>enrich_flights.py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4319" y="3931920"/>
            <a:ext cx="1783079" cy="93871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 dirty="0">
                <a:solidFill>
                  <a:srgbClr val="CBD5E1"/>
                </a:solidFill>
                <a:latin typeface="Calibri"/>
              </a:rPr>
              <a:t>Join flight × weather on
scheduled departure hour</a:t>
            </a:r>
            <a:r>
              <a:rPr lang="en-US" sz="1100" b="0" i="0" dirty="0">
                <a:solidFill>
                  <a:srgbClr val="CBD5E1"/>
                </a:solidFill>
                <a:latin typeface="Calibri"/>
              </a:rPr>
              <a:t> and arrival hour</a:t>
            </a:r>
            <a:r>
              <a:rPr sz="1100" b="0" i="0" dirty="0">
                <a:solidFill>
                  <a:srgbClr val="CBD5E1"/>
                </a:solidFill>
                <a:latin typeface="Calibri"/>
              </a:rPr>
              <a:t>.</a:t>
            </a:r>
            <a:endParaRPr lang="en-US" sz="1100" b="0" i="0" dirty="0">
              <a:solidFill>
                <a:srgbClr val="CBD5E1"/>
              </a:solidFill>
              <a:latin typeface="Calibri"/>
            </a:endParaRPr>
          </a:p>
          <a:p>
            <a:r>
              <a:rPr lang="en-US" sz="1100" dirty="0">
                <a:solidFill>
                  <a:srgbClr val="CBD5E1"/>
                </a:solidFill>
              </a:rPr>
              <a:t>Publishes JSON to Kafka          enriched-flights.</a:t>
            </a:r>
            <a:endParaRPr sz="1100" b="0" i="0" dirty="0">
              <a:solidFill>
                <a:srgbClr val="CBD5E1"/>
              </a:solidFill>
              <a:latin typeface="Calibri"/>
            </a:endParaRPr>
          </a:p>
        </p:txBody>
      </p:sp>
      <p:sp>
        <p:nvSpPr>
          <p:cNvPr id="18" name="Right Arrow 17"/>
          <p:cNvSpPr/>
          <p:nvPr/>
        </p:nvSpPr>
        <p:spPr>
          <a:xfrm>
            <a:off x="4893411" y="3813048"/>
            <a:ext cx="146304" cy="237744"/>
          </a:xfrm>
          <a:prstGeom prst="rightArrow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044287" y="2834640"/>
            <a:ext cx="2103120" cy="219456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44287" y="2834640"/>
            <a:ext cx="73152" cy="21945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72887" y="3017520"/>
            <a:ext cx="1783079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STEP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2887" y="3383280"/>
            <a:ext cx="1783079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onsolas"/>
              </a:rPr>
              <a:t>transform_risk.py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2887" y="3931920"/>
            <a:ext cx="1783079" cy="6001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r>
              <a:rPr lang="en-US" sz="1100" dirty="0">
                <a:solidFill>
                  <a:srgbClr val="CBD5E1"/>
                </a:solidFill>
              </a:rPr>
              <a:t>Consumes Kafka. </a:t>
            </a:r>
            <a:r>
              <a:rPr sz="1100" b="0" i="0" dirty="0">
                <a:solidFill>
                  <a:srgbClr val="CBD5E1"/>
                </a:solidFill>
                <a:latin typeface="Calibri"/>
              </a:rPr>
              <a:t>Score DEP &amp; ARR independently
— worst score wins.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1979" y="3813048"/>
            <a:ext cx="146304" cy="237744"/>
          </a:xfrm>
          <a:prstGeom prst="rightArrow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302855" y="2834640"/>
            <a:ext cx="2103120" cy="219456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302855" y="2834640"/>
            <a:ext cx="73152" cy="219456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531455" y="3017520"/>
            <a:ext cx="1783079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STEP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31455" y="3383280"/>
            <a:ext cx="1783079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onsolas"/>
              </a:rPr>
              <a:t>load_postgres.py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31455" y="3931920"/>
            <a:ext cx="1783079" cy="1051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UPSERT into flight_risk.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410547" y="3813048"/>
            <a:ext cx="146304" cy="237744"/>
          </a:xfrm>
          <a:prstGeom prst="rightArrow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561423" y="2834640"/>
            <a:ext cx="2103120" cy="219456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561423" y="2834640"/>
            <a:ext cx="73152" cy="21945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790023" y="3017520"/>
            <a:ext cx="1783079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Calibri"/>
              </a:rPr>
              <a:t>STEP 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90023" y="3383280"/>
            <a:ext cx="1783079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onsolas"/>
              </a:rPr>
              <a:t>load_minio.py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90023" y="3931920"/>
            <a:ext cx="1783079" cy="1051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Append snapshot to Hive-
partitioned archive.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486400"/>
            <a:ext cx="10607040" cy="685800"/>
          </a:xfrm>
          <a:prstGeom prst="roundRect">
            <a:avLst>
              <a:gd name="adj" fmla="val 30000"/>
            </a:avLst>
          </a:prstGeom>
          <a:solidFill>
            <a:srgbClr val="223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77240" y="5486400"/>
            <a:ext cx="73152" cy="6858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05840" y="5683106"/>
            <a:ext cx="10332720" cy="2923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1" i="0" dirty="0">
                <a:solidFill>
                  <a:srgbClr val="F5A623"/>
                </a:solidFill>
                <a:latin typeface="Calibri"/>
              </a:rPr>
              <a:t>Result per run: </a:t>
            </a:r>
            <a:r>
              <a:rPr sz="1300" b="0" i="0" dirty="0">
                <a:solidFill>
                  <a:srgbClr val="F1F5F9"/>
                </a:solidFill>
                <a:latin typeface="Calibri"/>
              </a:rPr>
              <a:t>flights re-scored · live view updated in PostgreSQL · full snapshot appended to </a:t>
            </a:r>
            <a:r>
              <a:rPr sz="1300" b="0" i="0" dirty="0" err="1">
                <a:solidFill>
                  <a:srgbClr val="F1F5F9"/>
                </a:solidFill>
                <a:latin typeface="Calibri"/>
              </a:rPr>
              <a:t>MinIO</a:t>
            </a:r>
            <a:r>
              <a:rPr sz="1300" b="0" i="0" dirty="0">
                <a:solidFill>
                  <a:srgbClr val="F1F5F9"/>
                </a:solidFill>
                <a:latin typeface="Calibri"/>
              </a:rPr>
              <a:t> (never deleted)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77240" y="704088"/>
            <a:ext cx="164592" cy="164592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640080"/>
            <a:ext cx="411480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RISK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5156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 i="0" dirty="0">
                <a:solidFill>
                  <a:srgbClr val="F1F5F9"/>
                </a:solidFill>
                <a:latin typeface="Calibri"/>
              </a:rPr>
              <a:t>How We Score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515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Calibri"/>
              </a:rPr>
              <a:t>Scored independently for </a:t>
            </a:r>
            <a:r>
              <a:rPr sz="1500" b="1" i="0">
                <a:solidFill>
                  <a:srgbClr val="3BA9F5"/>
                </a:solidFill>
                <a:latin typeface="Calibri"/>
              </a:rPr>
              <a:t>both</a:t>
            </a:r>
            <a:r>
              <a:rPr sz="1500" b="0" i="0">
                <a:solidFill>
                  <a:srgbClr val="CBD5E1"/>
                </a:solidFill>
                <a:latin typeface="Calibri"/>
              </a:rPr>
              <a:t> departure and arrival airports — worst score wins.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606040"/>
            <a:ext cx="10607040" cy="822960"/>
          </a:xfrm>
          <a:prstGeom prst="roundRect">
            <a:avLst>
              <a:gd name="adj" fmla="val 3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60120" y="278892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788920"/>
            <a:ext cx="13716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>
                <a:solidFill>
                  <a:srgbClr val="0B1426"/>
                </a:solidFill>
                <a:latin typeface="Calibri"/>
              </a:rPr>
              <a:t>HIGH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260604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onsolas"/>
              </a:rPr>
              <a:t>wind &gt; 50 km/h  OR  precipitation &gt; 5 mm/h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566160"/>
            <a:ext cx="10607040" cy="822960"/>
          </a:xfrm>
          <a:prstGeom prst="roundRect">
            <a:avLst>
              <a:gd name="adj" fmla="val 3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60120" y="374904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3749040"/>
            <a:ext cx="13716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>
                <a:solidFill>
                  <a:srgbClr val="0B1426"/>
                </a:solidFill>
                <a:latin typeface="Calibri"/>
              </a:rP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356616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onsolas"/>
              </a:rPr>
              <a:t>wind &gt; 30 km/h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526280"/>
            <a:ext cx="10607040" cy="822960"/>
          </a:xfrm>
          <a:prstGeom prst="roundRect">
            <a:avLst>
              <a:gd name="adj" fmla="val 3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60120" y="470916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4709160"/>
            <a:ext cx="13716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>
                <a:solidFill>
                  <a:srgbClr val="0B1426"/>
                </a:solidFill>
                <a:latin typeface="Calibri"/>
              </a:rPr>
              <a:t>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452628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onsolas"/>
              </a:rPr>
              <a:t>Clear conditions — no thresholds exceeded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669280"/>
            <a:ext cx="10607040" cy="914400"/>
          </a:xfrm>
          <a:prstGeom prst="roundRect">
            <a:avLst>
              <a:gd name="adj" fmla="val 20000"/>
            </a:avLst>
          </a:prstGeom>
          <a:solidFill>
            <a:srgbClr val="223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77240" y="5669280"/>
            <a:ext cx="73152" cy="914400"/>
          </a:xfrm>
          <a:prstGeom prst="rect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5715000"/>
            <a:ext cx="7772400" cy="868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The triggering airport is stored in </a:t>
            </a:r>
            <a:r>
              <a:rPr sz="1300" b="1" i="0">
                <a:solidFill>
                  <a:srgbClr val="F5A623"/>
                </a:solidFill>
                <a:latin typeface="Consolas"/>
              </a:rPr>
              <a:t>risk_airport</a:t>
            </a:r>
            <a:r>
              <a:rPr sz="1300" b="0" i="0">
                <a:solidFill>
                  <a:srgbClr val="CBD5E1"/>
                </a:solidFill>
                <a:latin typeface="Calibri"/>
              </a:rPr>
              <a:t> (DEP/ARR), and the reason in </a:t>
            </a:r>
            <a:r>
              <a:rPr sz="1300" b="1" i="0">
                <a:solidFill>
                  <a:srgbClr val="F5A623"/>
                </a:solidFill>
                <a:latin typeface="Consolas"/>
              </a:rPr>
              <a:t>risk_reason</a:t>
            </a:r>
            <a:r>
              <a:rPr sz="1300" b="0" i="0">
                <a:solidFill>
                  <a:srgbClr val="CBD5E1"/>
                </a:solidFill>
                <a:latin typeface="Calibri"/>
              </a:rPr>
              <a:t> — e.g. </a:t>
            </a:r>
            <a:r>
              <a:rPr sz="1300" b="0" i="0">
                <a:solidFill>
                  <a:srgbClr val="F1F5F9"/>
                </a:solidFill>
                <a:latin typeface="Consolas"/>
              </a:rPr>
              <a:t>"wind 62.3 km/h"</a:t>
            </a:r>
            <a:r>
              <a:rPr sz="1300" b="0" i="0">
                <a:solidFill>
                  <a:srgbClr val="CBD5E1"/>
                </a:solidFill>
                <a:latin typeface="Calibri"/>
              </a:rPr>
              <a:t>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77240" y="704088"/>
            <a:ext cx="164592" cy="164592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640080"/>
            <a:ext cx="411480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2DD4BF"/>
                </a:solidFill>
                <a:latin typeface="Calibri"/>
              </a:rPr>
              <a:t>STORAGE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5156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 i="0" dirty="0">
                <a:solidFill>
                  <a:srgbClr val="F1F5F9"/>
                </a:solidFill>
                <a:latin typeface="Calibri"/>
              </a:rPr>
              <a:t>Why Two Databases?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515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Calibri"/>
              </a:rPr>
              <a:t>Different problems require different write patterns — and different access patterns.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2606040"/>
            <a:ext cx="5166360" cy="338328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92327" y="2606040"/>
            <a:ext cx="73152" cy="3383280"/>
          </a:xfrm>
          <a:prstGeom prst="rect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66647" y="2807208"/>
            <a:ext cx="4800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3BA9F5"/>
                </a:solidFill>
                <a:latin typeface="Calibri"/>
              </a:rPr>
              <a:t>CURRENT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647" y="3200400"/>
            <a:ext cx="48006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1" i="0">
                <a:solidFill>
                  <a:srgbClr val="F1F5F9"/>
                </a:solidFill>
                <a:latin typeface="Calibri"/>
              </a:rPr>
              <a:t>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647" y="3931920"/>
            <a:ext cx="173736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Write 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287" y="3931920"/>
            <a:ext cx="306324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UPSERT — always current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6647" y="4315968"/>
            <a:ext cx="173736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Content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8287" y="4315968"/>
            <a:ext cx="306324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Latest risk per flight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6647" y="4700016"/>
            <a:ext cx="173736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Used by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287" y="4700016"/>
            <a:ext cx="306324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Streamlit  ·  Power BI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6647" y="5084064"/>
            <a:ext cx="173736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Key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58287" y="5084064"/>
            <a:ext cx="306324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onsolas"/>
              </a:rPr>
              <a:t>(flight_iata, scheduled_dep)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2606040"/>
            <a:ext cx="5166360" cy="338328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33007" y="2606040"/>
            <a:ext cx="73152" cy="338328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07327" y="2807208"/>
            <a:ext cx="4800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Calibri"/>
              </a:rPr>
              <a:t>HISTORICAL ARCHIVE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7327" y="3200400"/>
            <a:ext cx="48006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1" i="0">
                <a:solidFill>
                  <a:srgbClr val="F1F5F9"/>
                </a:solidFill>
                <a:latin typeface="Calibri"/>
              </a:rPr>
              <a:t>MinIO  (local S3)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7327" y="3931920"/>
            <a:ext cx="173736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Write pattern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8967" y="3931920"/>
            <a:ext cx="306324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Append-only, never delete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7327" y="4315968"/>
            <a:ext cx="173736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Content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8967" y="4315968"/>
            <a:ext cx="306324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Every snapshot, forever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7327" y="4700016"/>
            <a:ext cx="173736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Partitioning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8967" y="4700016"/>
            <a:ext cx="306324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onsolas"/>
              </a:rPr>
              <a:t>year / month / day / hour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5084064"/>
            <a:ext cx="173736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Format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8967" y="5084064"/>
            <a:ext cx="306324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Newline-delimited JSON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2327" y="6172200"/>
            <a:ext cx="5166360" cy="411480"/>
          </a:xfrm>
          <a:prstGeom prst="roundRect">
            <a:avLst>
              <a:gd name="adj" fmla="val 50000"/>
            </a:avLst>
          </a:prstGeom>
          <a:solidFill>
            <a:srgbClr val="223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929487" y="6327648"/>
            <a:ext cx="91440" cy="91440"/>
          </a:xfrm>
          <a:prstGeom prst="ellipse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112367" y="6172200"/>
            <a:ext cx="480060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Analogy: </a:t>
            </a:r>
            <a:r>
              <a:rPr sz="1200" b="1" i="1">
                <a:solidFill>
                  <a:srgbClr val="F1F5F9"/>
                </a:solidFill>
                <a:latin typeface="Calibri"/>
              </a:rPr>
              <a:t>Current balance screen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3007" y="6172200"/>
            <a:ext cx="5166360" cy="411480"/>
          </a:xfrm>
          <a:prstGeom prst="roundRect">
            <a:avLst>
              <a:gd name="adj" fmla="val 50000"/>
            </a:avLst>
          </a:prstGeom>
          <a:solidFill>
            <a:srgbClr val="223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6370167" y="6327648"/>
            <a:ext cx="91440" cy="914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53047" y="6172200"/>
            <a:ext cx="480060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Analogy: </a:t>
            </a:r>
            <a:r>
              <a:rPr sz="1200" b="1" i="1">
                <a:solidFill>
                  <a:srgbClr val="F1F5F9"/>
                </a:solidFill>
                <a:latin typeface="Calibri"/>
              </a:rPr>
              <a:t>Complete transaction ledger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891ED-E202-6AA7-108D-8631845FF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17CAF7-CCEF-5166-DE00-8EA29ADFA77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9A4EA90-B4DE-6823-A089-839064F24C9E}"/>
              </a:ext>
            </a:extLst>
          </p:cNvPr>
          <p:cNvSpPr/>
          <p:nvPr/>
        </p:nvSpPr>
        <p:spPr>
          <a:xfrm>
            <a:off x="777240" y="704088"/>
            <a:ext cx="164592" cy="164592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BB27D9-AE21-DC38-88BD-C8918F5F9831}"/>
              </a:ext>
            </a:extLst>
          </p:cNvPr>
          <p:cNvSpPr txBox="1"/>
          <p:nvPr/>
        </p:nvSpPr>
        <p:spPr>
          <a:xfrm>
            <a:off x="1051560" y="640080"/>
            <a:ext cx="411480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  <a:latin typeface="Calibri"/>
              </a:rPr>
              <a:t>LIVE DASHBOARD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2BCEBF-048F-8ED4-1D04-E7182C2AE54F}"/>
              </a:ext>
            </a:extLst>
          </p:cNvPr>
          <p:cNvSpPr txBox="1"/>
          <p:nvPr/>
        </p:nvSpPr>
        <p:spPr>
          <a:xfrm>
            <a:off x="777240" y="1051560"/>
            <a:ext cx="10515600" cy="6463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r>
              <a:rPr lang="en-US" sz="3600" b="1" dirty="0">
                <a:solidFill>
                  <a:srgbClr val="F1F5F9"/>
                </a:solidFill>
              </a:rPr>
              <a:t>Power-BI Desktop</a:t>
            </a:r>
            <a:endParaRPr lang="en-US" sz="3600" b="1" dirty="0">
              <a:solidFill>
                <a:srgbClr val="22C55E"/>
              </a:solidFill>
              <a:latin typeface="Consolas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EE7280BD-E79E-720D-B85C-18C82B9D385F}"/>
              </a:ext>
            </a:extLst>
          </p:cNvPr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1438968-09BA-708F-A273-9406E3CECFAA}"/>
              </a:ext>
            </a:extLst>
          </p:cNvPr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10 / 14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C4E91A-E84F-8BEE-729B-CA6403C058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7891"/>
            <a:ext cx="9277418" cy="5000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7991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30175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Oval 2"/>
          <p:cNvSpPr/>
          <p:nvPr/>
        </p:nvSpPr>
        <p:spPr>
          <a:xfrm>
            <a:off x="777240" y="704088"/>
            <a:ext cx="164592" cy="164592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640080"/>
            <a:ext cx="411480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  <a:latin typeface="Calibri"/>
              </a:rPr>
              <a:t>LIVE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5156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 i="0" dirty="0" err="1">
                <a:solidFill>
                  <a:srgbClr val="F1F5F9"/>
                </a:solidFill>
                <a:latin typeface="Calibri"/>
              </a:rPr>
              <a:t>Streamlit</a:t>
            </a:r>
            <a:r>
              <a:rPr sz="3600" b="1" i="0" dirty="0">
                <a:solidFill>
                  <a:srgbClr val="F1F5F9"/>
                </a:solidFill>
                <a:latin typeface="Calibri"/>
              </a:rPr>
              <a:t>  </a:t>
            </a:r>
            <a:r>
              <a:rPr sz="3600" b="0" i="0" dirty="0">
                <a:solidFill>
                  <a:srgbClr val="94A3B8"/>
                </a:solidFill>
                <a:latin typeface="Calibri"/>
              </a:rPr>
              <a:t>—  </a:t>
            </a:r>
            <a:r>
              <a:rPr sz="3600" b="1" i="0" dirty="0">
                <a:solidFill>
                  <a:srgbClr val="22C55E"/>
                </a:solidFill>
                <a:latin typeface="Consolas"/>
              </a:rPr>
              <a:t>localhost:8501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515600" cy="2923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 dirty="0">
                <a:solidFill>
                  <a:srgbClr val="CBD5E1"/>
                </a:solidFill>
                <a:latin typeface="Calibri"/>
              </a:rPr>
              <a:t>Auto-refreshes every 60 seconds  ·  filterable by risk, airport, airline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10 / 14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58E9434-2202-64E8-2657-B1DA86503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1" y="2302959"/>
            <a:ext cx="6328281" cy="36940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6C8F69A-1DAE-0CA6-F96F-532D6C4AD3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958" y="2302959"/>
            <a:ext cx="5621291" cy="216286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77240" y="704088"/>
            <a:ext cx="164592" cy="164592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640080"/>
            <a:ext cx="411480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A78BFA"/>
                </a:solidFill>
                <a:latin typeface="Calibri"/>
              </a:rPr>
              <a:t>ENGINEERING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5156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 i="0" dirty="0">
                <a:solidFill>
                  <a:srgbClr val="F1F5F9"/>
                </a:solidFill>
                <a:latin typeface="Calibri"/>
              </a:rPr>
              <a:t>What We Built &amp; 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5156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Calibri"/>
              </a:rPr>
              <a:t>Every decision keeps the system explainable, debuggable, and production-upgradeable.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6607" y="2560320"/>
            <a:ext cx="5257800" cy="192024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46607" y="2560320"/>
            <a:ext cx="73152" cy="1920240"/>
          </a:xfrm>
          <a:prstGeom prst="rect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52347" y="2766060"/>
            <a:ext cx="685800" cy="685800"/>
          </a:xfrm>
          <a:prstGeom prst="ellipse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2347" y="2766060"/>
            <a:ext cx="68580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 i="0">
                <a:solidFill>
                  <a:srgbClr val="0B1426"/>
                </a:solidFill>
                <a:latin typeface="Calibri"/>
              </a:rPr>
              <a:t>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3887" y="2761488"/>
            <a:ext cx="397763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Kafka as the Transport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0927" y="3566160"/>
            <a:ext cx="489204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Every hop goes through a Kafka topic. Scripts are independently runnable — swap any stage without touching the others.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7287" y="2560320"/>
            <a:ext cx="5257800" cy="192024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87287" y="2560320"/>
            <a:ext cx="73152" cy="192024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393027" y="2766060"/>
            <a:ext cx="685800" cy="6858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93027" y="2766060"/>
            <a:ext cx="68580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 i="0">
                <a:solidFill>
                  <a:srgbClr val="0B1426"/>
                </a:solidFill>
                <a:latin typeface="Calibri"/>
              </a:rPr>
              <a:t>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4567" y="2761488"/>
            <a:ext cx="3977639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lang="en-US" b="1" dirty="0">
                <a:solidFill>
                  <a:srgbClr val="F1F5F9"/>
                </a:solidFill>
                <a:latin typeface="Calibri"/>
              </a:rPr>
              <a:t>Safe data</a:t>
            </a:r>
            <a:r>
              <a:rPr sz="1800" b="1" i="0" dirty="0">
                <a:solidFill>
                  <a:srgbClr val="F1F5F9"/>
                </a:solidFill>
                <a:latin typeface="Calibri"/>
              </a:rPr>
              <a:t> Loads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3566160"/>
            <a:ext cx="489204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All inserts use ON CONFLICT DO NOTHING / UPDATE — safe to re-run any script at any time, zero duplicates.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6607" y="4663440"/>
            <a:ext cx="5257800" cy="192024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6607" y="4663440"/>
            <a:ext cx="73152" cy="19202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52347" y="4869179"/>
            <a:ext cx="685800" cy="6858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52347" y="4869179"/>
            <a:ext cx="68580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 i="0">
                <a:solidFill>
                  <a:srgbClr val="0B1426"/>
                </a:solidFill>
                <a:latin typeface="Calibri"/>
              </a:rPr>
              <a:t>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43887" y="4864607"/>
            <a:ext cx="397763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API Deduplication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0927" y="5669279"/>
            <a:ext cx="489204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 dirty="0">
                <a:solidFill>
                  <a:srgbClr val="CBD5E1"/>
                </a:solidFill>
                <a:latin typeface="Calibri"/>
              </a:rPr>
              <a:t>Open-</a:t>
            </a:r>
            <a:r>
              <a:rPr sz="1300" b="0" i="0" dirty="0" err="1">
                <a:solidFill>
                  <a:srgbClr val="CBD5E1"/>
                </a:solidFill>
                <a:latin typeface="Calibri"/>
              </a:rPr>
              <a:t>Meteo</a:t>
            </a:r>
            <a:r>
              <a:rPr sz="1300" b="0" i="0" dirty="0">
                <a:solidFill>
                  <a:srgbClr val="CBD5E1"/>
                </a:solidFill>
                <a:latin typeface="Calibri"/>
              </a:rPr>
              <a:t> called once per unique airport, not per flight — 838 flights become only 5-12 weather API calls per run.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4663440"/>
            <a:ext cx="5257800" cy="192024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87287" y="4663440"/>
            <a:ext cx="73152" cy="19202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393027" y="4869179"/>
            <a:ext cx="685800" cy="685800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93027" y="4869179"/>
            <a:ext cx="68580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 i="0">
                <a:solidFill>
                  <a:srgbClr val="0B1426"/>
                </a:solidFill>
                <a:latin typeface="Calibri"/>
              </a:rPr>
              <a:t>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4567" y="4864607"/>
            <a:ext cx="397763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 dirty="0">
                <a:solidFill>
                  <a:srgbClr val="F1F5F9"/>
                </a:solidFill>
                <a:latin typeface="Calibri"/>
              </a:rPr>
              <a:t>One-Line Cloud Upgrade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5669279"/>
            <a:ext cx="489204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Switching to AWS S3 or RDS requires changing one line in .env — no code rewrites, fully portable design.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77240" y="704088"/>
            <a:ext cx="164592" cy="164592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640080"/>
            <a:ext cx="411480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Calibri"/>
              </a:rPr>
              <a:t>WHAT WAS HARD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5156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 i="0">
                <a:solidFill>
                  <a:srgbClr val="F1F5F9"/>
                </a:solidFill>
                <a:latin typeface="Calibri"/>
              </a:rPr>
              <a:t>Challenges We Solved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5156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Calibri"/>
              </a:rPr>
              <a:t>Every bug taught us something about real production pipelines.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6607" y="2560320"/>
            <a:ext cx="5257800" cy="192024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46607" y="2560320"/>
            <a:ext cx="73152" cy="1920240"/>
          </a:xfrm>
          <a:prstGeom prst="rect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52347" y="2766060"/>
            <a:ext cx="685800" cy="685800"/>
          </a:xfrm>
          <a:prstGeom prst="ellipse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2347" y="2962766"/>
            <a:ext cx="685800" cy="2923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lang="en-US" sz="1300" b="1" i="0" dirty="0">
                <a:solidFill>
                  <a:srgbClr val="F1F5F9"/>
                </a:solidFill>
                <a:latin typeface="Calibri"/>
              </a:rPr>
              <a:t>Services</a:t>
            </a:r>
            <a:endParaRPr sz="1300" b="1" i="0" dirty="0">
              <a:solidFill>
                <a:srgbClr val="F1F5F9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843887" y="2761488"/>
            <a:ext cx="397763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lang="en-US" sz="1700" b="1" i="0" dirty="0">
                <a:solidFill>
                  <a:srgbClr val="F1F5F9"/>
                </a:solidFill>
                <a:latin typeface="Calibri"/>
              </a:rPr>
              <a:t>Select Services</a:t>
            </a:r>
            <a:endParaRPr sz="1700" b="1" i="0" dirty="0">
              <a:solidFill>
                <a:srgbClr val="F1F5F9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20927" y="3520439"/>
            <a:ext cx="4892040" cy="27699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 dirty="0">
                <a:solidFill>
                  <a:srgbClr val="EF4444"/>
                </a:solidFill>
                <a:latin typeface="Calibri"/>
              </a:rPr>
              <a:t>Problem:  </a:t>
            </a:r>
            <a:r>
              <a:rPr lang="en-US" sz="1200" b="0" i="0" dirty="0">
                <a:solidFill>
                  <a:srgbClr val="CBD5E1"/>
                </a:solidFill>
                <a:latin typeface="Calibri"/>
              </a:rPr>
              <a:t>There are many providers in the market</a:t>
            </a:r>
            <a:r>
              <a:rPr sz="1200" b="0" i="0" dirty="0">
                <a:solidFill>
                  <a:srgbClr val="CBD5E1"/>
                </a:solidFill>
                <a:latin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0927" y="3977639"/>
            <a:ext cx="4892040" cy="46166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 dirty="0">
                <a:solidFill>
                  <a:srgbClr val="22C55E"/>
                </a:solidFill>
                <a:latin typeface="Calibri"/>
              </a:rPr>
              <a:t>Fix:  </a:t>
            </a:r>
            <a:r>
              <a:rPr lang="en-US" sz="1200" b="1" i="0" dirty="0">
                <a:solidFill>
                  <a:srgbClr val="F1F5F9"/>
                </a:solidFill>
                <a:latin typeface="Calibri"/>
              </a:rPr>
              <a:t>We select open/free providers that will allow as to change to large scal</a:t>
            </a:r>
            <a:r>
              <a:rPr lang="en-US" sz="1200" b="1" dirty="0">
                <a:solidFill>
                  <a:srgbClr val="F1F5F9"/>
                </a:solidFill>
                <a:latin typeface="Calibri"/>
              </a:rPr>
              <a:t>e Easley </a:t>
            </a:r>
            <a:endParaRPr sz="1200" b="0" i="0" dirty="0">
              <a:solidFill>
                <a:srgbClr val="F1F5F9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187287" y="2560320"/>
            <a:ext cx="5257800" cy="192024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87287" y="2560320"/>
            <a:ext cx="73152" cy="19202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393027" y="2766060"/>
            <a:ext cx="685800" cy="6858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93027" y="2766060"/>
            <a:ext cx="68580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 i="0">
                <a:solidFill>
                  <a:srgbClr val="F1F5F9"/>
                </a:solidFill>
                <a:latin typeface="Calibri"/>
              </a:rPr>
              <a:t>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4567" y="2761488"/>
            <a:ext cx="397763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 i="0" dirty="0">
                <a:solidFill>
                  <a:srgbClr val="F1F5F9"/>
                </a:solidFill>
                <a:latin typeface="Calibri"/>
              </a:rPr>
              <a:t>API Rate Limits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520439"/>
            <a:ext cx="48920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Problem:  </a:t>
            </a:r>
            <a:r>
              <a:rPr sz="1200" b="0" i="0">
                <a:solidFill>
                  <a:srgbClr val="CBD5E1"/>
                </a:solidFill>
                <a:latin typeface="Calibri"/>
              </a:rPr>
              <a:t>AeroDataBox 429 Too Many Requests when querying airports back-to-back.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7" y="3977639"/>
            <a:ext cx="48920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Fix:  </a:t>
            </a:r>
            <a:r>
              <a:rPr sz="1200" b="0" i="0">
                <a:solidFill>
                  <a:srgbClr val="F1F5F9"/>
                </a:solidFill>
                <a:latin typeface="Calibri"/>
              </a:rPr>
              <a:t>Fixed with sleep(1) between calls.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6607" y="4663440"/>
            <a:ext cx="5257800" cy="192024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6607" y="4663440"/>
            <a:ext cx="73152" cy="192024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52347" y="4869179"/>
            <a:ext cx="685800" cy="6858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52347" y="5065885"/>
            <a:ext cx="685800" cy="2923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lang="en-US" sz="1300" b="1" i="0" dirty="0">
                <a:solidFill>
                  <a:srgbClr val="F1F5F9"/>
                </a:solidFill>
                <a:latin typeface="Calibri"/>
              </a:rPr>
              <a:t>War</a:t>
            </a:r>
            <a:endParaRPr sz="1300" b="1" i="0" dirty="0">
              <a:solidFill>
                <a:srgbClr val="F1F5F9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843887" y="4864607"/>
            <a:ext cx="397763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lang="en-US" sz="1700" b="1" dirty="0">
                <a:solidFill>
                  <a:srgbClr val="F1F5F9"/>
                </a:solidFill>
                <a:latin typeface="Calibri"/>
              </a:rPr>
              <a:t>War</a:t>
            </a:r>
            <a:endParaRPr sz="1700" b="1" i="0" dirty="0">
              <a:solidFill>
                <a:srgbClr val="F1F5F9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020927" y="5623559"/>
            <a:ext cx="4892040" cy="27699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 dirty="0">
                <a:solidFill>
                  <a:srgbClr val="EF4444"/>
                </a:solidFill>
                <a:latin typeface="Calibri"/>
              </a:rPr>
              <a:t>Problem</a:t>
            </a:r>
            <a:r>
              <a:rPr lang="en-US" sz="1100" b="1" i="0" dirty="0">
                <a:solidFill>
                  <a:srgbClr val="EF4444"/>
                </a:solidFill>
                <a:latin typeface="Calibri"/>
              </a:rPr>
              <a:t>:  </a:t>
            </a:r>
            <a:r>
              <a:rPr lang="en-US" sz="1200" dirty="0">
                <a:solidFill>
                  <a:srgbClr val="CBD5E1"/>
                </a:solidFill>
                <a:latin typeface="Calibri"/>
              </a:rPr>
              <a:t>we worked on the project during War, hard to schedule meetings</a:t>
            </a:r>
            <a:r>
              <a:rPr lang="en-US" sz="1200" b="0" i="0" dirty="0">
                <a:solidFill>
                  <a:srgbClr val="CBD5E1"/>
                </a:solidFill>
                <a:latin typeface="Calibri"/>
              </a:rPr>
              <a:t>.</a:t>
            </a:r>
            <a:endParaRPr sz="1200" b="0" i="0" dirty="0">
              <a:solidFill>
                <a:srgbClr val="CBD5E1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20927" y="6080759"/>
            <a:ext cx="4892040" cy="27699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 dirty="0">
                <a:solidFill>
                  <a:srgbClr val="22C55E"/>
                </a:solidFill>
                <a:latin typeface="Calibri"/>
              </a:rPr>
              <a:t>Fix:  </a:t>
            </a:r>
            <a:r>
              <a:rPr lang="en-US" sz="1200" b="0" i="0" dirty="0">
                <a:solidFill>
                  <a:srgbClr val="F1F5F9"/>
                </a:solidFill>
                <a:latin typeface="Calibri"/>
              </a:rPr>
              <a:t>Long nights</a:t>
            </a:r>
            <a:r>
              <a:rPr lang="en-US" sz="1200" dirty="0">
                <a:solidFill>
                  <a:srgbClr val="F1F5F9"/>
                </a:solidFill>
                <a:latin typeface="Calibri"/>
              </a:rPr>
              <a:t>.</a:t>
            </a:r>
            <a:endParaRPr sz="1200" b="0" i="0" dirty="0">
              <a:solidFill>
                <a:srgbClr val="F1F5F9"/>
              </a:solidFill>
              <a:latin typeface="Calibr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77240" y="704088"/>
            <a:ext cx="164592" cy="164592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640080"/>
            <a:ext cx="411480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  <a:latin typeface="Calibri"/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5156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 i="0">
                <a:solidFill>
                  <a:srgbClr val="F1F5F9"/>
                </a:solidFill>
                <a:latin typeface="Calibri"/>
              </a:rPr>
              <a:t>Taking This to the Next Level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5156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Calibri"/>
              </a:rPr>
              <a:t>The architecture is already cloud-ready — these are the natural next steps.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65176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2651760"/>
            <a:ext cx="73152" cy="868680"/>
          </a:xfrm>
          <a:prstGeom prst="rect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2651760"/>
            <a:ext cx="1097280" cy="868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3200" b="1" i="0">
                <a:solidFill>
                  <a:srgbClr val="3BA9F5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761488"/>
            <a:ext cx="877824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 i="0">
                <a:solidFill>
                  <a:srgbClr val="F1F5F9"/>
                </a:solidFill>
                <a:latin typeface="Calibri"/>
              </a:rPr>
              <a:t>Move to AWS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3108960"/>
            <a:ext cx="8778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Replace MinIO with S3, PostgreSQL with RDS, Airflow with MWAA — one .env change each.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1188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3611880"/>
            <a:ext cx="73152" cy="86868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3611880"/>
            <a:ext cx="1097280" cy="868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3200" b="1" i="0">
                <a:solidFill>
                  <a:srgbClr val="F5A623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3721608"/>
            <a:ext cx="877824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 i="0">
                <a:solidFill>
                  <a:srgbClr val="F1F5F9"/>
                </a:solidFill>
                <a:latin typeface="Calibri"/>
              </a:rPr>
              <a:t>Expand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069080"/>
            <a:ext cx="8778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Add more airports; upgrade to a paid AeroDataBox plan for 7-day forecasts and global coverage.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57200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" y="4572000"/>
            <a:ext cx="73152" cy="86868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1560" y="4572000"/>
            <a:ext cx="1097280" cy="868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3200" b="1" i="0">
                <a:solidFill>
                  <a:srgbClr val="A78BFA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4681728"/>
            <a:ext cx="877824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 i="0">
                <a:solidFill>
                  <a:srgbClr val="F1F5F9"/>
                </a:solidFill>
                <a:latin typeface="Calibri"/>
              </a:rPr>
              <a:t>ML Risk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5029200"/>
            <a:ext cx="8778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Replace rule-based scoring with a trained ML model using historical MinIO data — predict probability, not just thresholds.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5321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73152" cy="86868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1560" y="5532120"/>
            <a:ext cx="1097280" cy="868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3200" b="1" i="0">
                <a:solidFill>
                  <a:srgbClr val="22C55E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641848"/>
            <a:ext cx="877824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 i="0">
                <a:solidFill>
                  <a:srgbClr val="F1F5F9"/>
                </a:solidFill>
                <a:latin typeface="Calibri"/>
              </a:rPr>
              <a:t>Alerts &amp; Observability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5989320"/>
            <a:ext cx="8778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Real-time email/Slack alerts when high-risk flights are detected, plus ELK stack for full observability.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686800" y="-1828800"/>
            <a:ext cx="5943600" cy="5943600"/>
          </a:xfrm>
          <a:prstGeom prst="ellipse">
            <a:avLst/>
          </a:prstGeom>
          <a:solidFill>
            <a:srgbClr val="152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418320" y="457200"/>
            <a:ext cx="5029200" cy="5029200"/>
          </a:xfrm>
          <a:prstGeom prst="ellipse">
            <a:avLst/>
          </a:prstGeom>
          <a:solidFill>
            <a:srgbClr val="1C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66960" y="1554480"/>
            <a:ext cx="1828800" cy="18288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149840" y="1737360"/>
            <a:ext cx="1463040" cy="1463040"/>
          </a:xfrm>
          <a:prstGeom prst="ellipse">
            <a:avLst/>
          </a:prstGeom>
          <a:solidFill>
            <a:srgbClr val="FDC8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960120"/>
            <a:ext cx="73152" cy="274320"/>
          </a:xfrm>
          <a:prstGeom prst="rect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914400"/>
            <a:ext cx="1005840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1" i="0">
                <a:solidFill>
                  <a:srgbClr val="3BA9F5"/>
                </a:solidFill>
                <a:latin typeface="Calibri"/>
              </a:rPr>
              <a:t>NAYA COLLEGE  ·  CLOUD BIG DATA ENGINEERING  ·  FINAL PROJECT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914400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0" b="1" i="0">
                <a:solidFill>
                  <a:srgbClr val="F1F5F9"/>
                </a:solidFill>
                <a:latin typeface="Calibri"/>
              </a:rPr>
              <a:t>Thank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914400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0" i="0">
                <a:solidFill>
                  <a:srgbClr val="CBD5E1"/>
                </a:solidFill>
                <a:latin typeface="Calibri"/>
              </a:rPr>
              <a:t>Questions welcome.</a:t>
            </a:r>
          </a:p>
          <a:p>
            <a:pPr algn="l"/>
            <a:r>
              <a:rPr sz="1800" b="0" i="0">
                <a:solidFill>
                  <a:srgbClr val="94A3B8"/>
                </a:solidFill>
                <a:latin typeface="Calibri"/>
              </a:rPr>
              <a:t>Live pipeline running at </a:t>
            </a:r>
            <a:r>
              <a:rPr sz="1800" b="1" i="0">
                <a:solidFill>
                  <a:srgbClr val="F5A623"/>
                </a:solidFill>
                <a:latin typeface="Consolas"/>
              </a:rPr>
              <a:t>localhost:8501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754880"/>
            <a:ext cx="3657600" cy="164592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4754880"/>
            <a:ext cx="73152" cy="1645920"/>
          </a:xfrm>
          <a:prstGeom prst="rect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4919472"/>
            <a:ext cx="32918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 i="0">
                <a:solidFill>
                  <a:srgbClr val="3BA9F5"/>
                </a:solidFill>
                <a:latin typeface="Calibri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5468112"/>
            <a:ext cx="32918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alibri"/>
              </a:rPr>
              <a:t>DOCKER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806440"/>
            <a:ext cx="329184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Kafka · Zookeeper · PostgreSQL · MinIO · Airflow · Streamlit · init workers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4754880"/>
            <a:ext cx="3657600" cy="164592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73152" cy="16459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46320" y="4919472"/>
            <a:ext cx="32918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 i="0">
                <a:solidFill>
                  <a:srgbClr val="F5A623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5468112"/>
            <a:ext cx="32918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alibri"/>
              </a:rPr>
              <a:t>ETL SCRIPTS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806440"/>
            <a:ext cx="329184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fetch → load_pg → enrich_weather → transform_risk → load_postgres + load_minio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4754880"/>
            <a:ext cx="3657600" cy="1645920"/>
          </a:xfrm>
          <a:prstGeom prst="roundRect">
            <a:avLst>
              <a:gd name="adj" fmla="val 20000"/>
            </a:avLst>
          </a:prstGeom>
          <a:solidFill>
            <a:srgbClr val="1A2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366760" y="4754880"/>
            <a:ext cx="73152" cy="16459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99109" y="4821781"/>
            <a:ext cx="3291840" cy="6463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 i="0" dirty="0">
                <a:solidFill>
                  <a:srgbClr val="22C55E"/>
                </a:solidFill>
                <a:latin typeface="Calibri"/>
              </a:rPr>
              <a:t>838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5468112"/>
            <a:ext cx="32918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dirty="0">
                <a:solidFill>
                  <a:srgbClr val="F1F5F9"/>
                </a:solidFill>
                <a:latin typeface="Calibri"/>
              </a:rPr>
              <a:t>FLIGHTS SCORED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5806440"/>
            <a:ext cx="329184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 dirty="0">
                <a:solidFill>
                  <a:srgbClr val="94A3B8"/>
                </a:solidFill>
                <a:latin typeface="Calibri"/>
              </a:rPr>
              <a:t>KJFK · EG</a:t>
            </a:r>
            <a:r>
              <a:rPr lang="en-US" sz="1000" b="0" i="0" dirty="0">
                <a:solidFill>
                  <a:srgbClr val="94A3B8"/>
                </a:solidFill>
                <a:latin typeface="Calibri"/>
              </a:rPr>
              <a:t>L</a:t>
            </a:r>
            <a:r>
              <a:rPr sz="1000" b="0" i="0" dirty="0">
                <a:solidFill>
                  <a:srgbClr val="94A3B8"/>
                </a:solidFill>
                <a:latin typeface="Calibri"/>
              </a:rPr>
              <a:t>L · EDDF · OMDB · KATL — re-scored every 30 min, archived forever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3B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1425</TotalTime>
  <Words>1305</Words>
  <Application>Microsoft Office PowerPoint</Application>
  <PresentationFormat>Widescreen</PresentationFormat>
  <Paragraphs>236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BAron BAron</dc:creator>
  <cp:keywords/>
  <dc:description>generated using python-pptx</dc:description>
  <cp:lastModifiedBy>Ron Babadjanov</cp:lastModifiedBy>
  <cp:revision>4</cp:revision>
  <dcterms:created xsi:type="dcterms:W3CDTF">2013-01-27T09:14:16Z</dcterms:created>
  <dcterms:modified xsi:type="dcterms:W3CDTF">2026-04-25T17:40:21Z</dcterms:modified>
  <cp:category/>
</cp:coreProperties>
</file>