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7" r:id="rId13"/>
    <p:sldId id="266" r:id="rId14"/>
    <p:sldId id="268" r:id="rId15"/>
    <p:sldId id="27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7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2286000"/>
            <a:ext cx="5943600" cy="5943600"/>
          </a:xfrm>
          <a:prstGeom prst="ellipse">
            <a:avLst/>
          </a:prstGeom>
          <a:solidFill>
            <a:srgbClr val="15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0"/>
            <a:ext cx="5029200" cy="5029200"/>
          </a:xfrm>
          <a:prstGeom prst="ellipse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81360" y="1097280"/>
            <a:ext cx="1828800" cy="1828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64240" y="1280160"/>
            <a:ext cx="1463040" cy="1463040"/>
          </a:xfrm>
          <a:prstGeom prst="ellipse">
            <a:avLst/>
          </a:prstGeom>
          <a:solidFill>
            <a:srgbClr val="FDC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051560"/>
            <a:ext cx="73152" cy="27432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00584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3BA9F5"/>
                </a:solidFill>
                <a:latin typeface="Calibri"/>
              </a:rPr>
              <a:t>NAYA COLLEGE  ·  CLOUD BIG DATA ENGINEERING  ·  FINAL PROJECT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96012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600" b="1" i="0" dirty="0">
                <a:solidFill>
                  <a:srgbClr val="F1F5F9"/>
                </a:solidFill>
                <a:latin typeface="Calibri"/>
              </a:rPr>
              <a:t>Flight Cancellation</a:t>
            </a:r>
          </a:p>
          <a:p>
            <a:pPr algn="l"/>
            <a:r>
              <a:rPr sz="5600" b="1" i="0" dirty="0">
                <a:solidFill>
                  <a:srgbClr val="3BA9F5"/>
                </a:solidFill>
                <a:latin typeface="Calibri"/>
              </a:rPr>
              <a:t>Risk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9601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 dirty="0">
                <a:solidFill>
                  <a:srgbClr val="CBD5E1"/>
                </a:solidFill>
                <a:latin typeface="Calibri"/>
              </a:rPr>
              <a:t>A real-time data engineering system that predicts flight cancellation risk using live weather forecasts.</a:t>
            </a:r>
          </a:p>
          <a:p>
            <a:pPr algn="l"/>
            <a:r>
              <a:rPr sz="1800" b="0" i="0" dirty="0">
                <a:solidFill>
                  <a:srgbClr val="CBD5E1"/>
                </a:solidFill>
                <a:latin typeface="Calibri"/>
              </a:rPr>
              <a:t>Re-scored every 30 minutes across 5 major airports.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394960"/>
            <a:ext cx="1956815" cy="45720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1832" y="5568696"/>
            <a:ext cx="109728" cy="109728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394960"/>
            <a:ext cx="159105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Apache Kafka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1215" y="5394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35808" y="5568696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18687" y="5394960"/>
            <a:ext cx="1371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539496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10327" y="556869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3207" y="5394960"/>
            <a:ext cx="8229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MinIO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5394960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36207" y="556869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5394960"/>
            <a:ext cx="104241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Airflow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6952" y="539496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81544" y="5568696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64424" y="5394960"/>
            <a:ext cx="12618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Streamlit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81744" y="53949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46336" y="5568696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9216" y="5394960"/>
            <a:ext cx="932688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Docker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 / 14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87E260-287F-DAF3-575F-2EEC5475E83B}"/>
              </a:ext>
            </a:extLst>
          </p:cNvPr>
          <p:cNvSpPr txBox="1"/>
          <p:nvPr/>
        </p:nvSpPr>
        <p:spPr>
          <a:xfrm>
            <a:off x="777240" y="4828203"/>
            <a:ext cx="5789423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400" b="1" i="0" dirty="0">
                <a:solidFill>
                  <a:schemeClr val="accent6"/>
                </a:solidFill>
                <a:latin typeface="Calibri"/>
              </a:rPr>
              <a:t>Maya Babadganov, Michael Sidorov </a:t>
            </a:r>
            <a:endParaRPr sz="2400" b="1" i="0" dirty="0">
              <a:solidFill>
                <a:schemeClr val="accent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0584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 dirty="0">
                <a:solidFill>
                  <a:srgbClr val="F1F5F9"/>
                </a:solidFill>
                <a:latin typeface="Calibri"/>
              </a:rPr>
              <a:t>Weather causes </a:t>
            </a:r>
            <a:r>
              <a:rPr sz="4400" b="1" i="0" dirty="0">
                <a:solidFill>
                  <a:srgbClr val="F5A623"/>
                </a:solidFill>
                <a:latin typeface="Calibri"/>
              </a:rPr>
              <a:t>billions</a:t>
            </a:r>
            <a:r>
              <a:rPr sz="4400" b="1" i="0" dirty="0">
                <a:solidFill>
                  <a:srgbClr val="F1F5F9"/>
                </a:solidFill>
                <a:latin typeface="Calibri"/>
              </a:rPr>
              <a:t> in flight disruptions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10607040" cy="868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834640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210312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600" b="1" i="0" dirty="0">
                <a:solidFill>
                  <a:srgbClr val="F5A623"/>
                </a:solidFill>
                <a:latin typeface="Calibri"/>
              </a:rP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34640"/>
            <a:ext cx="79552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 i="0" dirty="0">
                <a:solidFill>
                  <a:srgbClr val="CBD5E1"/>
                </a:solidFill>
                <a:latin typeface="Calibri"/>
              </a:rPr>
              <a:t>of all flight delays are directly caused by weather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40480"/>
            <a:ext cx="10607040" cy="868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840480"/>
            <a:ext cx="73152" cy="86868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951654"/>
            <a:ext cx="2103120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600" b="1" i="0" dirty="0">
                <a:solidFill>
                  <a:srgbClr val="3BA9F5"/>
                </a:solidFill>
                <a:latin typeface="Calibri"/>
              </a:rPr>
              <a:t>$3</a:t>
            </a:r>
            <a:r>
              <a:rPr lang="en-US" sz="3600" b="1" i="0" dirty="0">
                <a:solidFill>
                  <a:srgbClr val="3BA9F5"/>
                </a:solidFill>
                <a:latin typeface="Calibri"/>
              </a:rPr>
              <a:t>0</a:t>
            </a:r>
            <a:r>
              <a:rPr sz="3600" b="1" i="0" dirty="0">
                <a:solidFill>
                  <a:srgbClr val="3BA9F5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79552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 i="0" dirty="0">
                <a:solidFill>
                  <a:srgbClr val="CBD5E1"/>
                </a:solidFill>
                <a:latin typeface="Calibri"/>
              </a:rPr>
              <a:t>annual economic impact of flight delays in the US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07040" cy="868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846320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846320"/>
            <a:ext cx="210312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6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46320"/>
            <a:ext cx="7955279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 i="0" dirty="0">
                <a:solidFill>
                  <a:srgbClr val="CBD5E1"/>
                </a:solidFill>
                <a:latin typeface="Calibri"/>
              </a:rPr>
              <a:t>existing free tools that continuously re-score live risk every 30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97880"/>
            <a:ext cx="10607040" cy="640080"/>
          </a:xfrm>
          <a:prstGeom prst="roundRect">
            <a:avLst>
              <a:gd name="adj" fmla="val 1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3BA9F5"/>
                </a:solidFill>
                <a:latin typeface="Calibri"/>
              </a:rPr>
              <a:t>Our take: </a:t>
            </a:r>
            <a:r>
              <a:rPr sz="1400" b="0" i="0">
                <a:solidFill>
                  <a:srgbClr val="CBD5E1"/>
                </a:solidFill>
                <a:latin typeface="Calibri"/>
              </a:rPr>
              <a:t>We continuously re-score every upcoming flight — pulling live weather for both departure and arrival airports, before delays are even announced.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3BA9F5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A fully automated, local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One </a:t>
            </a:r>
            <a:r>
              <a:rPr sz="1600" b="1" i="0">
                <a:solidFill>
                  <a:srgbClr val="F5A623"/>
                </a:solidFill>
                <a:latin typeface="Consolas"/>
              </a:rPr>
              <a:t>docker-compose up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  —  9 services, 0 cloud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311" y="2834640"/>
            <a:ext cx="2633472" cy="3154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4311" y="2834640"/>
            <a:ext cx="73152" cy="315468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69567" y="3063239"/>
            <a:ext cx="822960" cy="822960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69567" y="3063239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8631" y="40233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1F5F9"/>
                </a:solidFill>
                <a:latin typeface="Calibri"/>
              </a:rPr>
              <a:t>Real-time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631" y="4617720"/>
            <a:ext cx="2176272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Apache Kafka carries every flight and weather update — two dedicated topics with 3 partitions 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7511" y="2834640"/>
            <a:ext cx="2633472" cy="3154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7511" y="2834640"/>
            <a:ext cx="73152" cy="3154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12767" y="3063239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2767" y="3063239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1831" y="40233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1F5F9"/>
                </a:solidFill>
                <a:latin typeface="Calibri"/>
              </a:rPr>
              <a:t>Live Weather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1831" y="4617720"/>
            <a:ext cx="2176272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Open-Meteo queried once per unique airport — wind &amp; rain matched to the exact departure hour.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0711" y="2834640"/>
            <a:ext cx="2633472" cy="3154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50711" y="2834640"/>
            <a:ext cx="73152" cy="31546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55967" y="3063239"/>
            <a:ext cx="822960" cy="8229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5967" y="3063239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40233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1F5F9"/>
                </a:solidFill>
                <a:latin typeface="Calibri"/>
              </a:rPr>
              <a:t>Dual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4617720"/>
            <a:ext cx="2176272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PostgreSQL for the live risk view, MinIO for a Hive-partitioned historical archive — never delete.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3911" y="2834640"/>
            <a:ext cx="2633472" cy="31546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93911" y="2834640"/>
            <a:ext cx="73152" cy="31546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99167" y="3063239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99167" y="3063239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8231" y="40233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1F5F9"/>
                </a:solidFill>
                <a:latin typeface="Calibri"/>
              </a:rPr>
              <a:t>Live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8231" y="4617720"/>
            <a:ext cx="2176272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Streamlit auto-refreshes every 60 seconds — filterable table, risk counters, airport bar chart.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3BA9F5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 dirty="0">
                <a:solidFill>
                  <a:srgbClr val="F1F5F9"/>
                </a:solidFill>
                <a:latin typeface="Calibri"/>
              </a:rPr>
              <a:t>End-to-End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Every stage is independently runnable — swap any component without rewriting the 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767" y="3017520"/>
            <a:ext cx="1828800" cy="1097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3767" y="301752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0927" y="3127248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3456432"/>
            <a:ext cx="1600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AeroDataBox
Open-Meteo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58287" y="3429000"/>
            <a:ext cx="228599" cy="274320"/>
          </a:xfrm>
          <a:prstGeom prst="rightArrow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32607" y="3017520"/>
            <a:ext cx="1828800" cy="1097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32607" y="3017520"/>
            <a:ext cx="73152" cy="109728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69767" y="3127248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3BA9F5"/>
                </a:solidFill>
                <a:latin typeface="Calibri"/>
              </a:rPr>
              <a:t>KAFKA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9767" y="3456432"/>
            <a:ext cx="1600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raw-flights
weather-data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07127" y="3429000"/>
            <a:ext cx="228599" cy="274320"/>
          </a:xfrm>
          <a:prstGeom prst="rightArrow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81447" y="3017520"/>
            <a:ext cx="1828800" cy="1097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81447" y="3017520"/>
            <a:ext cx="73152" cy="10972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8607" y="3127248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8607" y="3456432"/>
            <a:ext cx="1600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fetch · load
enrich · score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55967" y="3429000"/>
            <a:ext cx="228599" cy="274320"/>
          </a:xfrm>
          <a:prstGeom prst="rightArrow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30287" y="3017520"/>
            <a:ext cx="1828800" cy="1097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30287" y="3017520"/>
            <a:ext cx="73152" cy="10972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67447" y="3127248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447" y="3456432"/>
            <a:ext cx="1600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PostgreSQL
MinIO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04807" y="3429000"/>
            <a:ext cx="228599" cy="274320"/>
          </a:xfrm>
          <a:prstGeom prst="rightArrow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79127" y="3017520"/>
            <a:ext cx="1828800" cy="1097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9127" y="3017520"/>
            <a:ext cx="73152" cy="10972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16287" y="3127248"/>
            <a:ext cx="1600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6287" y="3456432"/>
            <a:ext cx="1600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Streamlit
Power 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348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ORCHESTRATION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800600"/>
            <a:ext cx="10607040" cy="118872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4800600"/>
            <a:ext cx="73152" cy="1188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93776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Airflow — schedule_dag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4846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Daily 06:00 · fetches flight schedules for 5 airports → raw-flights → flights_schedule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93776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Airflow — risk_dag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303520"/>
            <a:ext cx="5212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Every 30 min · fetch weather → enrich → score → PostgreSQL + MinIO snapshot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6217920"/>
            <a:ext cx="10607040" cy="457200"/>
          </a:xfrm>
          <a:prstGeom prst="roundRect">
            <a:avLst>
              <a:gd name="adj" fmla="val 3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6217920"/>
            <a:ext cx="2121408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3BA9F5"/>
                </a:solidFill>
                <a:latin typeface="Calibri"/>
              </a:rPr>
              <a:t>9  </a:t>
            </a:r>
            <a:r>
              <a:rPr sz="1200" b="0" i="0">
                <a:solidFill>
                  <a:srgbClr val="CBD5E1"/>
                </a:solidFill>
                <a:latin typeface="Calibri"/>
              </a:rPr>
              <a:t>Docker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8648" y="6217920"/>
            <a:ext cx="2121408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3BA9F5"/>
                </a:solidFill>
                <a:latin typeface="Calibri"/>
              </a:rPr>
              <a:t>5  </a:t>
            </a:r>
            <a:r>
              <a:rPr sz="1200" b="0" i="0">
                <a:solidFill>
                  <a:srgbClr val="CBD5E1"/>
                </a:solidFill>
                <a:latin typeface="Calibri"/>
              </a:rPr>
              <a:t>ETL scripts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0055" y="6217920"/>
            <a:ext cx="2121408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 dirty="0">
                <a:solidFill>
                  <a:srgbClr val="3BA9F5"/>
                </a:solidFill>
                <a:latin typeface="Calibri"/>
              </a:rPr>
              <a:t>2  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Airflow DAGs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1463" y="6217920"/>
            <a:ext cx="2121408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 dirty="0">
                <a:solidFill>
                  <a:srgbClr val="3BA9F5"/>
                </a:solidFill>
                <a:latin typeface="Calibri"/>
              </a:rPr>
              <a:t>5  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Airports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3BA9F5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All free. All Docker.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Change one line in </a:t>
            </a:r>
            <a:r>
              <a:rPr sz="1500" b="1" i="0">
                <a:solidFill>
                  <a:srgbClr val="F5A623"/>
                </a:solidFill>
                <a:latin typeface="Consolas"/>
              </a:rPr>
              <a:t>.env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 to switch to AWS S3 or RDS — no code rewrites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311" y="2606040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4311" y="2606040"/>
            <a:ext cx="73152" cy="1828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8631" y="2834640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SCHEDULES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631" y="3200400"/>
            <a:ext cx="2267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 err="1">
                <a:solidFill>
                  <a:srgbClr val="F1F5F9"/>
                </a:solidFill>
                <a:latin typeface="Calibri"/>
              </a:rPr>
              <a:t>AeroDataBox</a:t>
            </a:r>
            <a:endParaRPr sz="20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8631" y="3749039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RapidAPI · ~300/500 calls/month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7511" y="2606040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7511" y="2606040"/>
            <a:ext cx="73152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1831" y="2834640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1831" y="3200400"/>
            <a:ext cx="2267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F1F5F9"/>
                </a:solidFill>
                <a:latin typeface="Calibri"/>
              </a:rPr>
              <a:t>Open-</a:t>
            </a:r>
            <a:r>
              <a:rPr sz="2000" b="1" i="0" dirty="0" err="1">
                <a:solidFill>
                  <a:srgbClr val="F1F5F9"/>
                </a:solidFill>
                <a:latin typeface="Calibri"/>
              </a:rPr>
              <a:t>Meteo</a:t>
            </a:r>
            <a:endParaRPr sz="20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1831" y="3749039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Unlimited · no API key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0711" y="2606040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0711" y="2606040"/>
            <a:ext cx="73152" cy="182880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5031" y="2834640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3BA9F5"/>
                </a:solidFill>
                <a:latin typeface="Calibri"/>
              </a:rPr>
              <a:t>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3200400"/>
            <a:ext cx="2267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Calibri"/>
              </a:rPr>
              <a:t>Apache Kafka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3749039"/>
            <a:ext cx="2267712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 dirty="0">
                <a:solidFill>
                  <a:srgbClr val="CBD5E1"/>
                </a:solidFill>
                <a:latin typeface="Calibri"/>
              </a:rPr>
              <a:t>2 topics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3911" y="2606040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3911" y="2606040"/>
            <a:ext cx="73152" cy="1828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8231" y="2834640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8231" y="3200400"/>
            <a:ext cx="2267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Calibri"/>
              </a:rPr>
              <a:t>Airflow 2.8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8231" y="3749039"/>
            <a:ext cx="2267712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 dirty="0">
                <a:solidFill>
                  <a:srgbClr val="CBD5E1"/>
                </a:solidFill>
                <a:latin typeface="Calibri"/>
              </a:rPr>
              <a:t>2 DAGs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311" y="4544568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4311" y="4544568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8631" y="4773168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WAREHOUSE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631" y="5138928"/>
            <a:ext cx="226771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F1F5F9"/>
                </a:solidFill>
                <a:latin typeface="Calibri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631" y="5687568"/>
            <a:ext cx="2267712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 dirty="0">
                <a:solidFill>
                  <a:srgbClr val="CBD5E1"/>
                </a:solidFill>
                <a:latin typeface="Calibri"/>
              </a:rPr>
              <a:t>Idempotent UPSERT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7511" y="4544568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07511" y="4544568"/>
            <a:ext cx="73152" cy="1828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81831" y="4773168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OBJECT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1831" y="5138928"/>
            <a:ext cx="2267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Calibri"/>
              </a:rPr>
              <a:t>MinIO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1831" y="5687568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Local S3 · Hive partitioning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0711" y="4544568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50711" y="4544568"/>
            <a:ext cx="73152" cy="182880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5031" y="4773168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3BA9F5"/>
                </a:solidFill>
                <a:latin typeface="Calibri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5031" y="5138928"/>
            <a:ext cx="2267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Calibri"/>
              </a:rPr>
              <a:t>Streamlit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5031" y="5687568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Auto-refresh 60s · port 8501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3911" y="4544568"/>
            <a:ext cx="2633472" cy="182880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893911" y="4544568"/>
            <a:ext cx="73152" cy="182880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68231" y="4773168"/>
            <a:ext cx="2267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DBA74"/>
                </a:solidFill>
                <a:latin typeface="Calibri"/>
              </a:rPr>
              <a:t>BI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8231" y="5138928"/>
            <a:ext cx="226771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F1F5F9"/>
                </a:solidFill>
                <a:latin typeface="Calibri"/>
              </a:rPr>
              <a:t>Power BI</a:t>
            </a:r>
            <a:r>
              <a:rPr lang="en-US" sz="2000" b="1" i="0" dirty="0">
                <a:solidFill>
                  <a:srgbClr val="F1F5F9"/>
                </a:solidFill>
                <a:latin typeface="Calibri"/>
              </a:rPr>
              <a:t> Desktop</a:t>
            </a:r>
            <a:endParaRPr sz="20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168231" y="5687568"/>
            <a:ext cx="22677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Connects to PostgreSQL · free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DAG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 dirty="0" err="1">
                <a:solidFill>
                  <a:srgbClr val="F1F5F9"/>
                </a:solidFill>
                <a:latin typeface="Consolas"/>
              </a:rPr>
              <a:t>schedule_dag</a:t>
            </a:r>
            <a:r>
              <a:rPr sz="3600" b="1" i="0" dirty="0">
                <a:solidFill>
                  <a:srgbClr val="F1F5F9"/>
                </a:solidFill>
                <a:latin typeface="Consolas"/>
              </a:rPr>
              <a:t>  </a:t>
            </a:r>
            <a:r>
              <a:rPr sz="3600" b="1" i="0" dirty="0">
                <a:solidFill>
                  <a:srgbClr val="2DD4BF"/>
                </a:solidFill>
                <a:latin typeface="Calibri"/>
              </a:rPr>
              <a:t>—  Daily 06:00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 dirty="0">
                <a:solidFill>
                  <a:srgbClr val="CBD5E1"/>
                </a:solidFill>
                <a:latin typeface="Calibri"/>
              </a:rPr>
              <a:t>Fetches upcoming flight schedules for 5 monitored airports and loads them into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2834640"/>
            <a:ext cx="260604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867" y="2834640"/>
            <a:ext cx="73152" cy="219456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187" y="30175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3BA9F5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338328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onsolas"/>
              </a:rPr>
              <a:t>fetch_schedule.py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886200"/>
            <a:ext cx="224028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 dirty="0">
                <a:solidFill>
                  <a:srgbClr val="CBD5E1"/>
                </a:solidFill>
                <a:latin typeface="Calibri"/>
              </a:rPr>
              <a:t>Calls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AeroDataBox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via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RapidAPI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per ICAO airport.
Publishes JSON to Kafka</a:t>
            </a:r>
            <a:r>
              <a:rPr lang="he-IL" sz="1200" b="0" i="0" dirty="0">
                <a:solidFill>
                  <a:srgbClr val="CBD5E1"/>
                </a:solidFill>
                <a:latin typeface="Calibri"/>
              </a:rPr>
              <a:t>          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raw-flights.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6051" y="3794759"/>
            <a:ext cx="210312" cy="27432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75507" y="2834640"/>
            <a:ext cx="260604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75507" y="2834640"/>
            <a:ext cx="73152" cy="2194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9827" y="30175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KAFKA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9827" y="338328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onsolas"/>
              </a:rPr>
              <a:t>raw-flights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9827" y="3886200"/>
            <a:ext cx="22402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 dirty="0">
                <a:solidFill>
                  <a:srgbClr val="CBD5E1"/>
                </a:solidFill>
                <a:latin typeface="Calibri"/>
              </a:rPr>
              <a:t>Key: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flight_iata</a:t>
            </a:r>
            <a:endParaRPr sz="12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990691" y="3794759"/>
            <a:ext cx="210312" cy="27432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0147" y="2834640"/>
            <a:ext cx="260604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147" y="2834640"/>
            <a:ext cx="73152" cy="2194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4467" y="30175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4467" y="338328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onsolas"/>
              </a:rPr>
              <a:t>load_schedule_pg.py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4467" y="3886200"/>
            <a:ext cx="22402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 dirty="0">
                <a:solidFill>
                  <a:srgbClr val="CBD5E1"/>
                </a:solidFill>
                <a:latin typeface="Calibri"/>
              </a:rPr>
              <a:t>Consumes Kafka,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upserts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into</a:t>
            </a:r>
            <a:r>
              <a:rPr lang="en-US" sz="1200" b="0" i="0" dirty="0">
                <a:solidFill>
                  <a:srgbClr val="CBD5E1"/>
                </a:solidFill>
                <a:latin typeface="Calibri"/>
              </a:rPr>
              <a:t> Postgres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BD5E1"/>
                </a:solidFill>
                <a:latin typeface="Calibri"/>
              </a:rPr>
              <a:t>flights_schedule</a:t>
            </a:r>
            <a:r>
              <a:rPr lang="en-US" sz="1200" b="0" i="0" dirty="0">
                <a:solidFill>
                  <a:srgbClr val="CBD5E1"/>
                </a:solidFill>
                <a:latin typeface="Calibri"/>
              </a:rPr>
              <a:t> table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5331" y="3794759"/>
            <a:ext cx="210312" cy="27432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44787" y="2834640"/>
            <a:ext cx="260604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44787" y="2834640"/>
            <a:ext cx="73152" cy="2194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19107" y="30175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9107" y="3383280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onsolas"/>
              </a:rPr>
              <a:t>flights_schedule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9107" y="3886200"/>
            <a:ext cx="22402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3-day rolling window
ON CONFLICT DO NOTHING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486400"/>
            <a:ext cx="3520440" cy="640080"/>
          </a:xfrm>
          <a:prstGeom prst="roundRect">
            <a:avLst>
              <a:gd name="adj" fmla="val 3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486400"/>
            <a:ext cx="73152" cy="64008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Airports: </a:t>
            </a:r>
            <a:r>
              <a:rPr sz="1300" b="1" i="0">
                <a:solidFill>
                  <a:srgbClr val="F1F5F9"/>
                </a:solidFill>
                <a:latin typeface="Calibri"/>
              </a:rPr>
              <a:t>KJFK · EGLL · EDDF · OMDB · KATL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5486400"/>
            <a:ext cx="3520440" cy="640080"/>
          </a:xfrm>
          <a:prstGeom prst="roundRect">
            <a:avLst>
              <a:gd name="adj" fmla="val 3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34840" y="5486400"/>
            <a:ext cx="73152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548640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Free tier: </a:t>
            </a:r>
            <a:r>
              <a:rPr sz="1300" b="1" i="0">
                <a:solidFill>
                  <a:srgbClr val="F1F5F9"/>
                </a:solidFill>
                <a:latin typeface="Calibri"/>
              </a:rPr>
              <a:t>~300 / 500 calls/month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5486400"/>
            <a:ext cx="3520440" cy="640080"/>
          </a:xfrm>
          <a:prstGeom prst="roundRect">
            <a:avLst>
              <a:gd name="adj" fmla="val 3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5486400"/>
            <a:ext cx="73152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548640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Rate-limit fix: </a:t>
            </a:r>
            <a:r>
              <a:rPr sz="1300" b="1" i="0">
                <a:solidFill>
                  <a:srgbClr val="F1F5F9"/>
                </a:solidFill>
                <a:latin typeface="Calibri"/>
              </a:rPr>
              <a:t>sleep(1) between airports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DAG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 dirty="0" err="1">
                <a:solidFill>
                  <a:srgbClr val="F1F5F9"/>
                </a:solidFill>
                <a:latin typeface="Consolas"/>
              </a:rPr>
              <a:t>risk_dag</a:t>
            </a:r>
            <a:r>
              <a:rPr sz="3600" b="1" i="0" dirty="0">
                <a:solidFill>
                  <a:srgbClr val="F1F5F9"/>
                </a:solidFill>
                <a:latin typeface="Consolas"/>
              </a:rPr>
              <a:t>  </a:t>
            </a:r>
            <a:r>
              <a:rPr sz="3600" b="1" i="0" dirty="0">
                <a:solidFill>
                  <a:srgbClr val="F5A623"/>
                </a:solidFill>
                <a:latin typeface="Calibri"/>
              </a:rPr>
              <a:t>—  Every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Fetches fresh weather, re-scores every flight, writes to PostgreSQL and MinIO.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151" y="2834640"/>
            <a:ext cx="210312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7151" y="2834640"/>
            <a:ext cx="73152" cy="219456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5751" y="3017520"/>
            <a:ext cx="1783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3BA9F5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751" y="3383280"/>
            <a:ext cx="17830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fetch_weather.py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751" y="3931920"/>
            <a:ext cx="1783079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CBD5E1"/>
                </a:solidFill>
                <a:latin typeface="Calibri"/>
              </a:rPr>
              <a:t>Open-</a:t>
            </a:r>
            <a:r>
              <a:rPr sz="1100" b="0" i="0" dirty="0" err="1">
                <a:solidFill>
                  <a:srgbClr val="CBD5E1"/>
                </a:solidFill>
                <a:latin typeface="Calibri"/>
              </a:rPr>
              <a:t>Meteo</a:t>
            </a:r>
            <a:r>
              <a:rPr sz="1100" b="0" i="0" dirty="0">
                <a:solidFill>
                  <a:srgbClr val="CBD5E1"/>
                </a:solidFill>
                <a:latin typeface="Calibri"/>
              </a:rPr>
              <a:t> called once per
unique airport (5-12 API calls).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34843" y="3813048"/>
            <a:ext cx="14630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5719" y="2834640"/>
            <a:ext cx="210312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5719" y="2834640"/>
            <a:ext cx="73152" cy="2194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4319" y="3017520"/>
            <a:ext cx="1783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4319" y="3383280"/>
            <a:ext cx="17830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dirty="0">
                <a:solidFill>
                  <a:srgbClr val="F1F5F9"/>
                </a:solidFill>
                <a:latin typeface="Consolas"/>
              </a:rPr>
              <a:t>enrich_flights.py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4319" y="3931920"/>
            <a:ext cx="1783079" cy="93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CBD5E1"/>
                </a:solidFill>
                <a:latin typeface="Calibri"/>
              </a:rPr>
              <a:t>Join flight × weather on
scheduled departure hour</a:t>
            </a:r>
            <a:r>
              <a:rPr lang="en-US" sz="1100" b="0" i="0" dirty="0">
                <a:solidFill>
                  <a:srgbClr val="CBD5E1"/>
                </a:solidFill>
                <a:latin typeface="Calibri"/>
              </a:rPr>
              <a:t> and arrival hour</a:t>
            </a:r>
            <a:r>
              <a:rPr sz="1100" b="0" i="0" dirty="0">
                <a:solidFill>
                  <a:srgbClr val="CBD5E1"/>
                </a:solidFill>
                <a:latin typeface="Calibri"/>
              </a:rPr>
              <a:t>.</a:t>
            </a:r>
            <a:endParaRPr lang="en-US" sz="1100" b="0" i="0" dirty="0">
              <a:solidFill>
                <a:srgbClr val="CBD5E1"/>
              </a:solidFill>
              <a:latin typeface="Calibri"/>
            </a:endParaRPr>
          </a:p>
          <a:p>
            <a:r>
              <a:rPr lang="en-US" sz="1100" dirty="0">
                <a:solidFill>
                  <a:srgbClr val="CBD5E1"/>
                </a:solidFill>
              </a:rPr>
              <a:t>Publishes JSON to Kafka          enriched-flights.</a:t>
            </a:r>
            <a:endParaRPr sz="11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893411" y="3813048"/>
            <a:ext cx="14630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44287" y="2834640"/>
            <a:ext cx="210312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4287" y="283464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72887" y="3017520"/>
            <a:ext cx="1783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2887" y="3383280"/>
            <a:ext cx="17830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transform_risk.py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2887" y="3931920"/>
            <a:ext cx="1783079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100" dirty="0">
                <a:solidFill>
                  <a:srgbClr val="CBD5E1"/>
                </a:solidFill>
              </a:rPr>
              <a:t>Consumes Kafka. </a:t>
            </a:r>
            <a:r>
              <a:rPr sz="1100" b="0" i="0" dirty="0">
                <a:solidFill>
                  <a:srgbClr val="CBD5E1"/>
                </a:solidFill>
                <a:latin typeface="Calibri"/>
              </a:rPr>
              <a:t>Score DEP &amp; ARR independently
— worst score wins.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1979" y="3813048"/>
            <a:ext cx="14630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02855" y="2834640"/>
            <a:ext cx="210312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02855" y="283464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31455" y="3017520"/>
            <a:ext cx="1783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1455" y="3383280"/>
            <a:ext cx="17830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load_postgres.py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1455" y="3931920"/>
            <a:ext cx="1783079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UPSERT into flight_risk.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10547" y="3813048"/>
            <a:ext cx="14630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61423" y="2834640"/>
            <a:ext cx="2103120" cy="219456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61423" y="2834640"/>
            <a:ext cx="73152" cy="2194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90023" y="3017520"/>
            <a:ext cx="1783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0023" y="3383280"/>
            <a:ext cx="17830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load_minio.py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0023" y="3931920"/>
            <a:ext cx="1783079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Append snapshot to Hive-
partitioned archive.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486400"/>
            <a:ext cx="10607040" cy="685800"/>
          </a:xfrm>
          <a:prstGeom prst="roundRect">
            <a:avLst>
              <a:gd name="adj" fmla="val 3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5486400"/>
            <a:ext cx="73152" cy="685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683106"/>
            <a:ext cx="10332720" cy="2923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 dirty="0">
                <a:solidFill>
                  <a:srgbClr val="F5A623"/>
                </a:solidFill>
                <a:latin typeface="Calibri"/>
              </a:rPr>
              <a:t>Result per run: </a:t>
            </a:r>
            <a:r>
              <a:rPr sz="1300" b="0" i="0" dirty="0">
                <a:solidFill>
                  <a:srgbClr val="F1F5F9"/>
                </a:solidFill>
                <a:latin typeface="Calibri"/>
              </a:rPr>
              <a:t>flights re-scored · live view updated in PostgreSQL · full snapshot appended to </a:t>
            </a:r>
            <a:r>
              <a:rPr sz="1300" b="0" i="0" dirty="0" err="1">
                <a:solidFill>
                  <a:srgbClr val="F1F5F9"/>
                </a:solidFill>
                <a:latin typeface="Calibri"/>
              </a:rPr>
              <a:t>MinIO</a:t>
            </a:r>
            <a:r>
              <a:rPr sz="1300" b="0" i="0" dirty="0">
                <a:solidFill>
                  <a:srgbClr val="F1F5F9"/>
                </a:solidFill>
                <a:latin typeface="Calibri"/>
              </a:rPr>
              <a:t> (never deleted)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 dirty="0">
                <a:solidFill>
                  <a:srgbClr val="F1F5F9"/>
                </a:solidFill>
                <a:latin typeface="Calibri"/>
              </a:rPr>
              <a:t>How We Score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Scored independently for </a:t>
            </a:r>
            <a:r>
              <a:rPr sz="1500" b="1" i="0">
                <a:solidFill>
                  <a:srgbClr val="3BA9F5"/>
                </a:solidFill>
                <a:latin typeface="Calibri"/>
              </a:rPr>
              <a:t>both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 departure and arrival airports — worst score wins.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10607040" cy="822960"/>
          </a:xfrm>
          <a:prstGeom prst="roundRect">
            <a:avLst>
              <a:gd name="adj" fmla="val 3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7889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1371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06040"/>
            <a:ext cx="85953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onsolas"/>
              </a:rPr>
              <a:t>wind &gt; 50 km/h  OR  precipitation &gt; 5 mm/h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66160"/>
            <a:ext cx="10607040" cy="822960"/>
          </a:xfrm>
          <a:prstGeom prst="roundRect">
            <a:avLst>
              <a:gd name="adj" fmla="val 3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3749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49040"/>
            <a:ext cx="1371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Calibri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566160"/>
            <a:ext cx="85953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onsolas"/>
              </a:rPr>
              <a:t>wind &gt; 30 km/h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26280"/>
            <a:ext cx="10607040" cy="822960"/>
          </a:xfrm>
          <a:prstGeom prst="roundRect">
            <a:avLst>
              <a:gd name="adj" fmla="val 3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" y="4709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1371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Calibri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526280"/>
            <a:ext cx="85953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onsolas"/>
              </a:rPr>
              <a:t>Clear conditions — no thresholds exceeded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669280"/>
            <a:ext cx="10607040" cy="914400"/>
          </a:xfrm>
          <a:prstGeom prst="roundRect">
            <a:avLst>
              <a:gd name="adj" fmla="val 2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5669280"/>
            <a:ext cx="73152" cy="91440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77724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The triggering airport is stored in </a:t>
            </a:r>
            <a:r>
              <a:rPr sz="1300" b="1" i="0">
                <a:solidFill>
                  <a:srgbClr val="F5A623"/>
                </a:solidFill>
                <a:latin typeface="Consolas"/>
              </a:rPr>
              <a:t>risk_airport</a:t>
            </a:r>
            <a:r>
              <a:rPr sz="1300" b="0" i="0">
                <a:solidFill>
                  <a:srgbClr val="CBD5E1"/>
                </a:solidFill>
                <a:latin typeface="Calibri"/>
              </a:rPr>
              <a:t> (DEP/ARR), and the reason in </a:t>
            </a:r>
            <a:r>
              <a:rPr sz="1300" b="1" i="0">
                <a:solidFill>
                  <a:srgbClr val="F5A623"/>
                </a:solidFill>
                <a:latin typeface="Consolas"/>
              </a:rPr>
              <a:t>risk_reason</a:t>
            </a:r>
            <a:r>
              <a:rPr sz="1300" b="0" i="0">
                <a:solidFill>
                  <a:srgbClr val="CBD5E1"/>
                </a:solidFill>
                <a:latin typeface="Calibri"/>
              </a:rPr>
              <a:t> — e.g. </a:t>
            </a:r>
            <a:r>
              <a:rPr sz="1300" b="0" i="0">
                <a:solidFill>
                  <a:srgbClr val="F1F5F9"/>
                </a:solidFill>
                <a:latin typeface="Consolas"/>
              </a:rPr>
              <a:t>"wind 62.3 km/h"</a:t>
            </a:r>
            <a:r>
              <a:rPr sz="1300" b="0" i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STORAGE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 dirty="0">
                <a:solidFill>
                  <a:srgbClr val="F1F5F9"/>
                </a:solidFill>
                <a:latin typeface="Calibri"/>
              </a:rPr>
              <a:t>Why Two Databases?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Different problems require different write patterns — and different access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606040"/>
            <a:ext cx="5166360" cy="3383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2327" y="2606040"/>
            <a:ext cx="73152" cy="338328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647" y="2807208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3BA9F5"/>
                </a:solidFill>
                <a:latin typeface="Calibri"/>
              </a:rPr>
              <a:t>CURRENT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647" y="3200400"/>
            <a:ext cx="4800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647" y="3931920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Write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8287" y="39319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UPSERT — always 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647" y="4315968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8287" y="431596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Latest risk per flight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4700016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Used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287" y="4700016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Streamlit  ·  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647" y="5084064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8287" y="508406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onsolas"/>
              </a:rPr>
              <a:t>(flight_iata, scheduled_dep)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606040"/>
            <a:ext cx="5166360" cy="338328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3007" y="2606040"/>
            <a:ext cx="73152" cy="3383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7327" y="2807208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HISTORICAL ARCHIVE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3200400"/>
            <a:ext cx="4800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Calibri"/>
              </a:rPr>
              <a:t>MinIO  (local S3)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931920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Write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8967" y="39319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Append-only, never 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4315968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8967" y="431596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Every snapshot, forever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4700016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Partitioning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8967" y="4700016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onsolas"/>
              </a:rPr>
              <a:t>year / month / day / hour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5084064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8967" y="508406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Newline-delimited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2327" y="6172200"/>
            <a:ext cx="5166360" cy="41148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487" y="6327648"/>
            <a:ext cx="91440" cy="91440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2367" y="6172200"/>
            <a:ext cx="4800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Analogy: </a:t>
            </a:r>
            <a:r>
              <a:rPr sz="1200" b="1" i="1">
                <a:solidFill>
                  <a:srgbClr val="F1F5F9"/>
                </a:solidFill>
                <a:latin typeface="Calibri"/>
              </a:rPr>
              <a:t>Current balance screen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6172200"/>
            <a:ext cx="5166360" cy="411480"/>
          </a:xfrm>
          <a:prstGeom prst="roundRect">
            <a:avLst>
              <a:gd name="adj" fmla="val 50000"/>
            </a:avLst>
          </a:prstGeom>
          <a:solidFill>
            <a:srgbClr val="22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70167" y="6327648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53047" y="6172200"/>
            <a:ext cx="4800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Analogy: </a:t>
            </a:r>
            <a:r>
              <a:rPr sz="1200" b="1" i="1">
                <a:solidFill>
                  <a:srgbClr val="F1F5F9"/>
                </a:solidFill>
                <a:latin typeface="Calibri"/>
              </a:rPr>
              <a:t>Complete transaction ledger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91ED-E202-6AA7-108D-8631845F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17CAF7-CCEF-5166-DE00-8EA29ADFA77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A4EA90-B4DE-6823-A089-839064F24C9E}"/>
              </a:ext>
            </a:extLst>
          </p:cNvPr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B27D9-AE21-DC38-88BD-C8918F5F9831}"/>
              </a:ext>
            </a:extLst>
          </p:cNvPr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LIVE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BCEBF-048F-8ED4-1D04-E7182C2AE54F}"/>
              </a:ext>
            </a:extLst>
          </p:cNvPr>
          <p:cNvSpPr txBox="1"/>
          <p:nvPr/>
        </p:nvSpPr>
        <p:spPr>
          <a:xfrm>
            <a:off x="777240" y="1051560"/>
            <a:ext cx="105156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3600" b="1" dirty="0">
                <a:solidFill>
                  <a:srgbClr val="F1F5F9"/>
                </a:solidFill>
              </a:rPr>
              <a:t>Power-BI Desktop</a:t>
            </a:r>
            <a:endParaRPr lang="en-US" sz="3600" b="1" dirty="0">
              <a:solidFill>
                <a:srgbClr val="22C55E"/>
              </a:solidFill>
              <a:latin typeface="Consola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E7280BD-E79E-720D-B85C-18C82B9D385F}"/>
              </a:ext>
            </a:extLst>
          </p:cNvPr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438968-09BA-708F-A273-9406E3CECFAA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C4E91A-E84F-8BEE-729B-CA6403C05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7891"/>
            <a:ext cx="9277418" cy="50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9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175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 dirty="0" err="1">
                <a:solidFill>
                  <a:srgbClr val="F1F5F9"/>
                </a:solidFill>
                <a:latin typeface="Calibri"/>
              </a:rPr>
              <a:t>Streamlit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 </a:t>
            </a:r>
            <a:r>
              <a:rPr sz="3600" b="0" i="0" dirty="0">
                <a:solidFill>
                  <a:srgbClr val="94A3B8"/>
                </a:solidFill>
                <a:latin typeface="Calibri"/>
              </a:rPr>
              <a:t>—  </a:t>
            </a:r>
            <a:r>
              <a:rPr sz="3600" b="1" i="0" dirty="0">
                <a:solidFill>
                  <a:srgbClr val="22C55E"/>
                </a:solidFill>
                <a:latin typeface="Consolas"/>
              </a:rPr>
              <a:t>localhost:8501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dirty="0">
                <a:solidFill>
                  <a:srgbClr val="CBD5E1"/>
                </a:solidFill>
                <a:latin typeface="Calibri"/>
              </a:rPr>
              <a:t>Auto-refreshes every 60 seconds  ·  filterable by risk, airport, airline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8E9434-2202-64E8-2657-B1DA86503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" y="2302959"/>
            <a:ext cx="6328281" cy="3694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C8F69A-1DAE-0CA6-F96F-532D6C4AD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58" y="2302959"/>
            <a:ext cx="5621291" cy="21628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ENGINEERING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 dirty="0">
                <a:solidFill>
                  <a:srgbClr val="F1F5F9"/>
                </a:solidFill>
                <a:latin typeface="Calibri"/>
              </a:rPr>
              <a:t>What We Built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Every decision keeps the system explainable, debuggable, and production-upgradeable.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256032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6607" y="2560320"/>
            <a:ext cx="73152" cy="19202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2347" y="2766060"/>
            <a:ext cx="685800" cy="685800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2347" y="2766060"/>
            <a:ext cx="685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0B1426"/>
                </a:solidFill>
                <a:latin typeface="Calibri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3887" y="2761488"/>
            <a:ext cx="397763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Kafka as the Transport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3566160"/>
            <a:ext cx="4892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Every hop goes through a Kafka topic. Scripts are independently runnable — swap any stage without touching the others.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56032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7287" y="2560320"/>
            <a:ext cx="73152" cy="1920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93027" y="2766060"/>
            <a:ext cx="685800" cy="6858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3027" y="2766060"/>
            <a:ext cx="685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0B1426"/>
                </a:solidFill>
                <a:latin typeface="Calibri"/>
              </a:rPr>
              <a:t>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4567" y="2761488"/>
            <a:ext cx="397763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b="1" dirty="0">
                <a:solidFill>
                  <a:srgbClr val="F1F5F9"/>
                </a:solidFill>
                <a:latin typeface="Calibri"/>
              </a:rPr>
              <a:t>Safe data</a:t>
            </a:r>
            <a:r>
              <a:rPr sz="1800" b="1" i="0" dirty="0">
                <a:solidFill>
                  <a:srgbClr val="F1F5F9"/>
                </a:solidFill>
                <a:latin typeface="Calibri"/>
              </a:rPr>
              <a:t> 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566160"/>
            <a:ext cx="4892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All inserts use ON CONFLICT DO NOTHING / UPDATE — safe to re-run any script at any time, zero duplicates.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607" y="466344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6607" y="4663440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2347" y="4869179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347" y="4869179"/>
            <a:ext cx="685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0B1426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3887" y="4864607"/>
            <a:ext cx="397763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API Deduplication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927" y="5669279"/>
            <a:ext cx="4892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dirty="0">
                <a:solidFill>
                  <a:srgbClr val="CBD5E1"/>
                </a:solidFill>
                <a:latin typeface="Calibri"/>
              </a:rPr>
              <a:t>Open-</a:t>
            </a:r>
            <a:r>
              <a:rPr sz="1300" b="0" i="0" dirty="0" err="1">
                <a:solidFill>
                  <a:srgbClr val="CBD5E1"/>
                </a:solidFill>
                <a:latin typeface="Calibri"/>
              </a:rPr>
              <a:t>Meteo</a:t>
            </a:r>
            <a:r>
              <a:rPr sz="1300" b="0" i="0" dirty="0">
                <a:solidFill>
                  <a:srgbClr val="CBD5E1"/>
                </a:solidFill>
                <a:latin typeface="Calibri"/>
              </a:rPr>
              <a:t> called once per unique airport, not per flight — 838 flights become only 5-12 weather API calls per 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66344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87287" y="4663440"/>
            <a:ext cx="73152" cy="19202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93027" y="4869179"/>
            <a:ext cx="685800" cy="6858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3027" y="4869179"/>
            <a:ext cx="685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0B1426"/>
                </a:solidFill>
                <a:latin typeface="Calibri"/>
              </a:rP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4567" y="4864607"/>
            <a:ext cx="397763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 dirty="0">
                <a:solidFill>
                  <a:srgbClr val="F1F5F9"/>
                </a:solidFill>
                <a:latin typeface="Calibri"/>
              </a:rPr>
              <a:t>One-Line Cloud Upgrade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5669279"/>
            <a:ext cx="4892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Switching to AWS S3 or RDS requires changing one line in .env — no code rewrites, fully portable design.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WHAT WAS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Challenges We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Every bug taught us something about real production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256032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6607" y="2560320"/>
            <a:ext cx="73152" cy="19202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2347" y="2766060"/>
            <a:ext cx="685800" cy="685800"/>
          </a:xfrm>
          <a:prstGeom prst="ellipse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2347" y="2962766"/>
            <a:ext cx="685800" cy="2923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en-US" sz="1300" b="1" i="0" dirty="0">
                <a:solidFill>
                  <a:srgbClr val="F1F5F9"/>
                </a:solidFill>
                <a:latin typeface="Calibri"/>
              </a:rPr>
              <a:t>Services</a:t>
            </a:r>
            <a:endParaRPr sz="13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43887" y="2761488"/>
            <a:ext cx="39776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700" b="1" i="0" dirty="0">
                <a:solidFill>
                  <a:srgbClr val="F1F5F9"/>
                </a:solidFill>
                <a:latin typeface="Calibri"/>
              </a:rPr>
              <a:t>Select Services</a:t>
            </a:r>
            <a:endParaRPr sz="17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0927" y="3520439"/>
            <a:ext cx="489204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>
                <a:solidFill>
                  <a:srgbClr val="EF4444"/>
                </a:solidFill>
                <a:latin typeface="Calibri"/>
              </a:rPr>
              <a:t>Problem:  </a:t>
            </a:r>
            <a:r>
              <a:rPr lang="en-US" sz="1200" b="0" i="0" dirty="0">
                <a:solidFill>
                  <a:srgbClr val="CBD5E1"/>
                </a:solidFill>
                <a:latin typeface="Calibri"/>
              </a:rPr>
              <a:t>There are many providers in the market</a:t>
            </a:r>
            <a:r>
              <a:rPr sz="1200"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3977639"/>
            <a:ext cx="489204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>
                <a:solidFill>
                  <a:srgbClr val="22C55E"/>
                </a:solidFill>
                <a:latin typeface="Calibri"/>
              </a:rPr>
              <a:t>Fix:  </a:t>
            </a:r>
            <a:r>
              <a:rPr lang="en-US" sz="1200" b="1" i="0" dirty="0">
                <a:solidFill>
                  <a:srgbClr val="F1F5F9"/>
                </a:solidFill>
                <a:latin typeface="Calibri"/>
              </a:rPr>
              <a:t>We select open/free providers that will allow as to change to large scal</a:t>
            </a:r>
            <a:r>
              <a:rPr lang="en-US" sz="1200" b="1" dirty="0">
                <a:solidFill>
                  <a:srgbClr val="F1F5F9"/>
                </a:solidFill>
                <a:latin typeface="Calibri"/>
              </a:rPr>
              <a:t>e Easley </a:t>
            </a:r>
            <a:endParaRPr sz="1200" b="0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87287" y="256032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2560320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93027" y="276606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3027" y="2766060"/>
            <a:ext cx="685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4567" y="2761488"/>
            <a:ext cx="39776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 dirty="0">
                <a:solidFill>
                  <a:srgbClr val="F1F5F9"/>
                </a:solidFill>
                <a:latin typeface="Calibri"/>
              </a:rPr>
              <a:t>API Rate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520439"/>
            <a:ext cx="4892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Problem:  </a:t>
            </a:r>
            <a:r>
              <a:rPr sz="1200" b="0" i="0">
                <a:solidFill>
                  <a:srgbClr val="CBD5E1"/>
                </a:solidFill>
                <a:latin typeface="Calibri"/>
              </a:rPr>
              <a:t>AeroDataBox 429 Too Many Requests when querying airports back-to-back.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3977639"/>
            <a:ext cx="4892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Fix:  </a:t>
            </a:r>
            <a:r>
              <a:rPr sz="1200" b="0" i="0">
                <a:solidFill>
                  <a:srgbClr val="F1F5F9"/>
                </a:solidFill>
                <a:latin typeface="Calibri"/>
              </a:rPr>
              <a:t>Fixed with sleep(1) between calls.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607" y="4663440"/>
            <a:ext cx="5257800" cy="192024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6607" y="4663440"/>
            <a:ext cx="73152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2347" y="4869179"/>
            <a:ext cx="685800" cy="685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2347" y="5065885"/>
            <a:ext cx="685800" cy="2923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en-US" sz="1300" b="1" i="0" dirty="0">
                <a:solidFill>
                  <a:srgbClr val="F1F5F9"/>
                </a:solidFill>
                <a:latin typeface="Calibri"/>
              </a:rPr>
              <a:t>War</a:t>
            </a:r>
            <a:endParaRPr sz="13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43887" y="4864607"/>
            <a:ext cx="39776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700" b="1" dirty="0">
                <a:solidFill>
                  <a:srgbClr val="F1F5F9"/>
                </a:solidFill>
                <a:latin typeface="Calibri"/>
              </a:rPr>
              <a:t>War</a:t>
            </a:r>
            <a:endParaRPr sz="17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0927" y="5623559"/>
            <a:ext cx="489204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>
                <a:solidFill>
                  <a:srgbClr val="EF4444"/>
                </a:solidFill>
                <a:latin typeface="Calibri"/>
              </a:rPr>
              <a:t>Problem</a:t>
            </a:r>
            <a:r>
              <a:rPr lang="en-US" sz="1100" b="1" i="0" dirty="0">
                <a:solidFill>
                  <a:srgbClr val="EF4444"/>
                </a:solidFill>
                <a:latin typeface="Calibri"/>
              </a:rPr>
              <a:t>:  </a:t>
            </a:r>
            <a:r>
              <a:rPr lang="en-US" sz="1200" dirty="0">
                <a:solidFill>
                  <a:srgbClr val="CBD5E1"/>
                </a:solidFill>
                <a:latin typeface="Calibri"/>
              </a:rPr>
              <a:t>we worked on the project during War, hard to schedule meetings</a:t>
            </a:r>
            <a:r>
              <a:rPr lang="en-US" sz="1200" b="0" i="0" dirty="0">
                <a:solidFill>
                  <a:srgbClr val="CBD5E1"/>
                </a:solidFill>
                <a:latin typeface="Calibri"/>
              </a:rPr>
              <a:t>.</a:t>
            </a:r>
            <a:endParaRPr sz="12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0927" y="6080759"/>
            <a:ext cx="489204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dirty="0">
                <a:solidFill>
                  <a:srgbClr val="22C55E"/>
                </a:solidFill>
                <a:latin typeface="Calibri"/>
              </a:rPr>
              <a:t>Fix:  </a:t>
            </a:r>
            <a:r>
              <a:rPr lang="en-US" sz="1200" b="0" i="0" dirty="0">
                <a:solidFill>
                  <a:srgbClr val="F1F5F9"/>
                </a:solidFill>
                <a:latin typeface="Calibri"/>
              </a:rPr>
              <a:t>Long nights</a:t>
            </a:r>
            <a:r>
              <a:rPr lang="en-US" sz="1200" dirty="0">
                <a:solidFill>
                  <a:srgbClr val="F1F5F9"/>
                </a:solidFill>
                <a:latin typeface="Calibri"/>
              </a:rPr>
              <a:t>.</a:t>
            </a:r>
            <a:endParaRPr sz="1200" b="0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64008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Taking This to the Next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 dirty="0">
                <a:solidFill>
                  <a:srgbClr val="CBD5E1"/>
                </a:solidFill>
                <a:latin typeface="Calibri"/>
              </a:rPr>
              <a:t>The architecture is already cloud-ready — these are the natural next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73152" cy="86868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109728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 i="0">
                <a:solidFill>
                  <a:srgbClr val="3BA9F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61488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Move to 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0896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Replace MinIO with S3, PostgreSQL with RDS, Airflow with MWAA — one .env change 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1188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611880"/>
            <a:ext cx="109728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21608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Expand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6908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Add more airports; upgrade to a paid AeroDataBox plan for 7-day forecasts and global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572000"/>
            <a:ext cx="73152" cy="8686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572000"/>
            <a:ext cx="109728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681728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ML Risk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2920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Replace rule-based scoring with a trained ML model using historical MinIO data — predict probability, not just thresholds.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321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5532120"/>
            <a:ext cx="73152" cy="8686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532120"/>
            <a:ext cx="109728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641848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Calibri"/>
              </a:rPr>
              <a:t>Alerts &amp; 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98932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Real-time email/Slack alerts when high-risk flights are detected, plus ELK stack for full observability.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A571-A2DA-4C5D-83DF-5FC79109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B70217-8FC7-FF69-A73C-15F09BC0603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84B482-BE98-2763-D17A-851ECAC9A7C5}"/>
              </a:ext>
            </a:extLst>
          </p:cNvPr>
          <p:cNvSpPr/>
          <p:nvPr/>
        </p:nvSpPr>
        <p:spPr>
          <a:xfrm>
            <a:off x="777240" y="7040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85402-0417-9A05-AEB0-8CEFA93D5E11}"/>
              </a:ext>
            </a:extLst>
          </p:cNvPr>
          <p:cNvSpPr txBox="1"/>
          <p:nvPr/>
        </p:nvSpPr>
        <p:spPr>
          <a:xfrm>
            <a:off x="1051560" y="647884"/>
            <a:ext cx="4114800" cy="276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200" b="1" i="0" dirty="0">
                <a:solidFill>
                  <a:srgbClr val="22C55E"/>
                </a:solidFill>
                <a:latin typeface="Calibri"/>
              </a:rPr>
              <a:t>PROJECT ARCHITECTURE</a:t>
            </a:r>
            <a:endParaRPr sz="1200" b="1" i="0" dirty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7D73A-D9D0-1A64-068B-2E2AF30F065D}"/>
              </a:ext>
            </a:extLst>
          </p:cNvPr>
          <p:cNvSpPr txBox="1"/>
          <p:nvPr/>
        </p:nvSpPr>
        <p:spPr>
          <a:xfrm>
            <a:off x="777240" y="1051560"/>
            <a:ext cx="1051560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F1F5F9"/>
                </a:solidFill>
                <a:latin typeface="Calibri"/>
              </a:rPr>
              <a:t>Project Architecture</a:t>
            </a:r>
            <a:endParaRPr sz="40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ED9E02-CD35-F093-1DEE-2A9787B17CA0}"/>
              </a:ext>
            </a:extLst>
          </p:cNvPr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86FF38-AE50-60FD-169D-AC6F9D0DD7FF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487BBF5-2C53-AE55-9726-AF8776835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867" y="1838380"/>
            <a:ext cx="6684265" cy="474075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E0BD3A1-11CE-BC77-5A5C-A054AB6D5113}"/>
              </a:ext>
            </a:extLst>
          </p:cNvPr>
          <p:cNvSpPr txBox="1"/>
          <p:nvPr/>
        </p:nvSpPr>
        <p:spPr>
          <a:xfrm>
            <a:off x="9438132" y="5840782"/>
            <a:ext cx="203619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500" b="0" i="0" dirty="0">
                <a:solidFill>
                  <a:srgbClr val="CBD5E1"/>
                </a:solidFill>
                <a:latin typeface="Calibri"/>
              </a:rPr>
              <a:t>*** Power BI desktop is also 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pulling data from Postgres and not </a:t>
            </a:r>
            <a:r>
              <a:rPr lang="en-US" sz="1500" dirty="0" err="1">
                <a:solidFill>
                  <a:srgbClr val="CBD5E1"/>
                </a:solidFill>
                <a:latin typeface="Calibri"/>
              </a:rPr>
              <a:t>MinIO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.</a:t>
            </a:r>
            <a:endParaRPr sz="1500" b="0" i="0" dirty="0">
              <a:solidFill>
                <a:srgbClr val="CBD5E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728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15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457200"/>
            <a:ext cx="5029200" cy="5029200"/>
          </a:xfrm>
          <a:prstGeom prst="ellipse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1554480"/>
            <a:ext cx="1828800" cy="1828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1737360"/>
            <a:ext cx="1463040" cy="1463040"/>
          </a:xfrm>
          <a:prstGeom prst="ellipse">
            <a:avLst/>
          </a:prstGeom>
          <a:solidFill>
            <a:srgbClr val="FDC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960120"/>
            <a:ext cx="73152" cy="27432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91440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3BA9F5"/>
                </a:solidFill>
                <a:latin typeface="Calibri"/>
              </a:rPr>
              <a:t>NAYA COLLEGE  ·  CLOUD BIG DATA ENGINEERING  ·  FINAL PROJECT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91440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0" b="1" i="0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9144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Calibri"/>
              </a:rPr>
              <a:t>Questions welcome.</a:t>
            </a:r>
          </a:p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Live pipeline running at </a:t>
            </a:r>
            <a:r>
              <a:rPr sz="1800" b="1" i="0">
                <a:solidFill>
                  <a:srgbClr val="F5A623"/>
                </a:solidFill>
                <a:latin typeface="Consolas"/>
              </a:rPr>
              <a:t>localhost:8501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3657600" cy="164592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4754880"/>
            <a:ext cx="73152" cy="164592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919472"/>
            <a:ext cx="3291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3BA9F5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68112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DOCKER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3291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Kafka · Zookeeper · PostgreSQL · MinIO · Airflow · Streamlit · init workers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754880"/>
            <a:ext cx="3657600" cy="164592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4754880"/>
            <a:ext cx="73152" cy="1645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4919472"/>
            <a:ext cx="3291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5A623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468112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ETL SCRIPTS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806440"/>
            <a:ext cx="3291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fetch → load_pg → enrich_weather → transform_risk → load_postgres + load_minio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54880"/>
            <a:ext cx="3657600" cy="1645920"/>
          </a:xfrm>
          <a:prstGeom prst="roundRect">
            <a:avLst>
              <a:gd name="adj" fmla="val 20000"/>
            </a:avLst>
          </a:prstGeom>
          <a:solidFill>
            <a:srgbClr val="1A2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4754880"/>
            <a:ext cx="73152" cy="16459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99109" y="4821781"/>
            <a:ext cx="329184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 dirty="0">
                <a:solidFill>
                  <a:srgbClr val="22C55E"/>
                </a:solidFill>
                <a:latin typeface="Calibri"/>
              </a:rPr>
              <a:t>838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468112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dirty="0">
                <a:solidFill>
                  <a:srgbClr val="F1F5F9"/>
                </a:solidFill>
                <a:latin typeface="Calibri"/>
              </a:rPr>
              <a:t>FLIGHTS SCORED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806440"/>
            <a:ext cx="3291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94A3B8"/>
                </a:solidFill>
                <a:latin typeface="Calibri"/>
              </a:rPr>
              <a:t>KJFK · EG</a:t>
            </a:r>
            <a:r>
              <a:rPr lang="en-US" sz="1000" b="0" i="0" dirty="0">
                <a:solidFill>
                  <a:srgbClr val="94A3B8"/>
                </a:solidFill>
                <a:latin typeface="Calibri"/>
              </a:rPr>
              <a:t>L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L · EDDF · OMDB · KATL — re-scored every 30 min, archived forever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B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1326</Words>
  <Application>Microsoft Office PowerPoint</Application>
  <PresentationFormat>Widescreen</PresentationFormat>
  <Paragraphs>240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BAron BAron</dc:creator>
  <cp:keywords/>
  <dc:description>generated using python-pptx</dc:description>
  <cp:lastModifiedBy>Ron Babadjanov</cp:lastModifiedBy>
  <cp:revision>5</cp:revision>
  <dcterms:created xsi:type="dcterms:W3CDTF">2013-01-27T09:14:16Z</dcterms:created>
  <dcterms:modified xsi:type="dcterms:W3CDTF">2026-04-26T16:23:57Z</dcterms:modified>
  <cp:category/>
</cp:coreProperties>
</file>